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794A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11"/>
    <p:restoredTop sz="94658"/>
  </p:normalViewPr>
  <p:slideViewPr>
    <p:cSldViewPr>
      <p:cViewPr>
        <p:scale>
          <a:sx n="59" d="100"/>
          <a:sy n="59" d="100"/>
        </p:scale>
        <p:origin x="1976" y="8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322FE-9295-49BB-8D7B-3A353975EF2C}" type="datetimeFigureOut">
              <a:rPr lang="en-IN" smtClean="0"/>
              <a:t>28/09/26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3DB82-3D47-4744-AF9B-C3A142A8EEE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306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3DB82-3D47-4744-AF9B-C3A142A8EEE3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9604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3DB82-3D47-4744-AF9B-C3A142A8EEE3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272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3DB82-3D47-4744-AF9B-C3A142A8EEE3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8553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3DB82-3D47-4744-AF9B-C3A142A8EEE3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114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82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50582" y="178657"/>
            <a:ext cx="10570844" cy="668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5422" y="2900109"/>
            <a:ext cx="12315190" cy="5561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589196" y="9545563"/>
            <a:ext cx="250190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rive.google.com/file/d/1F219w0C3l7CVPSRs3tsWr852oJyAnm1X/view?usp=sharing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3.jpg"/><Relationship Id="rId3" Type="http://schemas.openxmlformats.org/officeDocument/2006/relationships/image" Target="../media/image7.jp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rfc6749" TargetMode="External"/><Relationship Id="rId13" Type="http://schemas.openxmlformats.org/officeDocument/2006/relationships/hyperlink" Target="https://ieeexplore.ieee.org/document/5260817" TargetMode="External"/><Relationship Id="rId18" Type="http://schemas.openxmlformats.org/officeDocument/2006/relationships/image" Target="../media/image3.jpg"/><Relationship Id="rId3" Type="http://schemas.openxmlformats.org/officeDocument/2006/relationships/hyperlink" Target="https://github.com/KiruthicK-B/SIH-2026/tree/main/sih26129%20-%20System%20Integrations%20and%20Interoperability%20among%20Govt%20Orgs" TargetMode="External"/><Relationship Id="rId7" Type="http://schemas.openxmlformats.org/officeDocument/2006/relationships/hyperlink" Target="https://en.wikipedia.org/wiki/X-Road" TargetMode="External"/><Relationship Id="rId12" Type="http://schemas.openxmlformats.org/officeDocument/2006/relationships/hyperlink" Target="https://ieeexplore.ieee.org/abstract/document/4621539/" TargetMode="External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indiastack.org" TargetMode="External"/><Relationship Id="rId11" Type="http://schemas.openxmlformats.org/officeDocument/2006/relationships/hyperlink" Target="https://microservices.io/patterns/apigateway.html" TargetMode="External"/><Relationship Id="rId5" Type="http://schemas.openxmlformats.org/officeDocument/2006/relationships/hyperlink" Target="https://egovstandards.gov.in/sites/default/files/IndEA%20Framework%201.0_0.pdf" TargetMode="External"/><Relationship Id="rId15" Type="http://schemas.openxmlformats.org/officeDocument/2006/relationships/hyperlink" Target="https://arxiv.org/pdf/2310.16562" TargetMode="External"/><Relationship Id="rId10" Type="http://schemas.openxmlformats.org/officeDocument/2006/relationships/hyperlink" Target="https://www.enterpriseintegrationpatterns.com/patterns/messaging/CanonicalDataModel.html" TargetMode="External"/><Relationship Id="rId19" Type="http://schemas.openxmlformats.org/officeDocument/2006/relationships/image" Target="../media/image2.png"/><Relationship Id="rId4" Type="http://schemas.openxmlformats.org/officeDocument/2006/relationships/hyperlink" Target="https://docs.apisetu.gov.in/document-central/explore-apisetu/Introduction.html" TargetMode="External"/><Relationship Id="rId9" Type="http://schemas.openxmlformats.org/officeDocument/2006/relationships/hyperlink" Target="https://openid.net/specs/openid-connect-core-1_0.html" TargetMode="External"/><Relationship Id="rId14" Type="http://schemas.openxmlformats.org/officeDocument/2006/relationships/hyperlink" Target="https://ieeexplore.ieee.org/document/125232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42669" y="1028700"/>
            <a:ext cx="6953250" cy="7734300"/>
            <a:chOff x="10942669" y="1028700"/>
            <a:chExt cx="6953250" cy="7734300"/>
          </a:xfrm>
        </p:grpSpPr>
        <p:sp>
          <p:nvSpPr>
            <p:cNvPr id="3" name="object 3"/>
            <p:cNvSpPr/>
            <p:nvPr/>
          </p:nvSpPr>
          <p:spPr>
            <a:xfrm>
              <a:off x="10942669" y="1028700"/>
              <a:ext cx="6953250" cy="7734300"/>
            </a:xfrm>
            <a:custGeom>
              <a:avLst/>
              <a:gdLst/>
              <a:ahLst/>
              <a:cxnLst/>
              <a:rect l="l" t="t" r="r" b="b"/>
              <a:pathLst>
                <a:path w="6953250" h="7734300">
                  <a:moveTo>
                    <a:pt x="5273432" y="7734299"/>
                  </a:moveTo>
                  <a:lnTo>
                    <a:pt x="2798804" y="7734299"/>
                  </a:lnTo>
                  <a:lnTo>
                    <a:pt x="2755486" y="7731510"/>
                  </a:lnTo>
                  <a:lnTo>
                    <a:pt x="2713181" y="7723274"/>
                  </a:lnTo>
                  <a:lnTo>
                    <a:pt x="2672110" y="7709783"/>
                  </a:lnTo>
                  <a:lnTo>
                    <a:pt x="2632490" y="7691230"/>
                  </a:lnTo>
                  <a:lnTo>
                    <a:pt x="2594538" y="7667807"/>
                  </a:lnTo>
                  <a:lnTo>
                    <a:pt x="2558471" y="7639707"/>
                  </a:lnTo>
                  <a:lnTo>
                    <a:pt x="2524505" y="7607124"/>
                  </a:lnTo>
                  <a:lnTo>
                    <a:pt x="2492855" y="7570250"/>
                  </a:lnTo>
                  <a:lnTo>
                    <a:pt x="2463739" y="7529278"/>
                  </a:lnTo>
                  <a:lnTo>
                    <a:pt x="2437372" y="7484400"/>
                  </a:lnTo>
                  <a:lnTo>
                    <a:pt x="2413970" y="7435810"/>
                  </a:lnTo>
                  <a:lnTo>
                    <a:pt x="1179322" y="4586121"/>
                  </a:lnTo>
                  <a:lnTo>
                    <a:pt x="1160955" y="4540722"/>
                  </a:lnTo>
                  <a:lnTo>
                    <a:pt x="1145927" y="4493597"/>
                  </a:lnTo>
                  <a:lnTo>
                    <a:pt x="1134239" y="4445090"/>
                  </a:lnTo>
                  <a:lnTo>
                    <a:pt x="1125891" y="4395549"/>
                  </a:lnTo>
                  <a:lnTo>
                    <a:pt x="1120882" y="4345318"/>
                  </a:lnTo>
                  <a:lnTo>
                    <a:pt x="1119212" y="4294743"/>
                  </a:lnTo>
                  <a:lnTo>
                    <a:pt x="1120882" y="4244170"/>
                  </a:lnTo>
                  <a:lnTo>
                    <a:pt x="1125891" y="4193945"/>
                  </a:lnTo>
                  <a:lnTo>
                    <a:pt x="1134239" y="4144414"/>
                  </a:lnTo>
                  <a:lnTo>
                    <a:pt x="1145927" y="4095921"/>
                  </a:lnTo>
                  <a:lnTo>
                    <a:pt x="1160955" y="4048813"/>
                  </a:lnTo>
                  <a:lnTo>
                    <a:pt x="1179322" y="4003436"/>
                  </a:lnTo>
                  <a:lnTo>
                    <a:pt x="1676379" y="2856167"/>
                  </a:lnTo>
                  <a:lnTo>
                    <a:pt x="1675047" y="2855405"/>
                  </a:lnTo>
                  <a:lnTo>
                    <a:pt x="1636865" y="2815963"/>
                  </a:lnTo>
                  <a:lnTo>
                    <a:pt x="1606894" y="2763658"/>
                  </a:lnTo>
                  <a:lnTo>
                    <a:pt x="1088420" y="1566943"/>
                  </a:lnTo>
                  <a:lnTo>
                    <a:pt x="1072246" y="1520004"/>
                  </a:lnTo>
                  <a:lnTo>
                    <a:pt x="1064159" y="1470047"/>
                  </a:lnTo>
                  <a:lnTo>
                    <a:pt x="1064159" y="1419084"/>
                  </a:lnTo>
                  <a:lnTo>
                    <a:pt x="1072246" y="1369127"/>
                  </a:lnTo>
                  <a:lnTo>
                    <a:pt x="1088420" y="1322188"/>
                  </a:lnTo>
                  <a:lnTo>
                    <a:pt x="1606946" y="125378"/>
                  </a:lnTo>
                  <a:lnTo>
                    <a:pt x="1630265" y="82571"/>
                  </a:lnTo>
                  <a:lnTo>
                    <a:pt x="1659083" y="47722"/>
                  </a:lnTo>
                  <a:lnTo>
                    <a:pt x="1692396" y="21776"/>
                  </a:lnTo>
                  <a:lnTo>
                    <a:pt x="1729255" y="5586"/>
                  </a:lnTo>
                  <a:lnTo>
                    <a:pt x="1768709" y="0"/>
                  </a:lnTo>
                  <a:lnTo>
                    <a:pt x="2807942" y="0"/>
                  </a:lnTo>
                  <a:lnTo>
                    <a:pt x="2855889" y="8671"/>
                  </a:lnTo>
                  <a:lnTo>
                    <a:pt x="2900248" y="33571"/>
                  </a:lnTo>
                  <a:lnTo>
                    <a:pt x="2938289" y="73030"/>
                  </a:lnTo>
                  <a:lnTo>
                    <a:pt x="2967282" y="125378"/>
                  </a:lnTo>
                  <a:lnTo>
                    <a:pt x="2984068" y="163963"/>
                  </a:lnTo>
                  <a:lnTo>
                    <a:pt x="1827534" y="163963"/>
                  </a:lnTo>
                  <a:lnTo>
                    <a:pt x="1784162" y="171647"/>
                  </a:lnTo>
                  <a:lnTo>
                    <a:pt x="1744699" y="193712"/>
                  </a:lnTo>
                  <a:lnTo>
                    <a:pt x="1710839" y="228674"/>
                  </a:lnTo>
                  <a:lnTo>
                    <a:pt x="1684280" y="275050"/>
                  </a:lnTo>
                  <a:lnTo>
                    <a:pt x="1224630" y="1336003"/>
                  </a:lnTo>
                  <a:lnTo>
                    <a:pt x="1210284" y="1377606"/>
                  </a:lnTo>
                  <a:lnTo>
                    <a:pt x="1203111" y="1421885"/>
                  </a:lnTo>
                  <a:lnTo>
                    <a:pt x="1203111" y="1467055"/>
                  </a:lnTo>
                  <a:lnTo>
                    <a:pt x="1210284" y="1511334"/>
                  </a:lnTo>
                  <a:lnTo>
                    <a:pt x="1224597" y="1552842"/>
                  </a:lnTo>
                  <a:lnTo>
                    <a:pt x="1684280" y="2613890"/>
                  </a:lnTo>
                  <a:lnTo>
                    <a:pt x="1710860" y="2660287"/>
                  </a:lnTo>
                  <a:lnTo>
                    <a:pt x="1744723" y="2695252"/>
                  </a:lnTo>
                  <a:lnTo>
                    <a:pt x="1751671" y="2699159"/>
                  </a:lnTo>
                  <a:lnTo>
                    <a:pt x="1686279" y="2850070"/>
                  </a:lnTo>
                  <a:lnTo>
                    <a:pt x="1727116" y="2870032"/>
                  </a:lnTo>
                  <a:lnTo>
                    <a:pt x="6401873" y="2874936"/>
                  </a:lnTo>
                  <a:lnTo>
                    <a:pt x="6892915" y="4003436"/>
                  </a:lnTo>
                  <a:lnTo>
                    <a:pt x="6911273" y="4048813"/>
                  </a:lnTo>
                  <a:lnTo>
                    <a:pt x="6926296" y="4095921"/>
                  </a:lnTo>
                  <a:lnTo>
                    <a:pt x="6937984" y="4144414"/>
                  </a:lnTo>
                  <a:lnTo>
                    <a:pt x="6946335" y="4193945"/>
                  </a:lnTo>
                  <a:lnTo>
                    <a:pt x="6951347" y="4244170"/>
                  </a:lnTo>
                  <a:lnTo>
                    <a:pt x="6953022" y="4294743"/>
                  </a:lnTo>
                  <a:lnTo>
                    <a:pt x="6951357" y="4345318"/>
                  </a:lnTo>
                  <a:lnTo>
                    <a:pt x="6946352" y="4395549"/>
                  </a:lnTo>
                  <a:lnTo>
                    <a:pt x="6938006" y="4445090"/>
                  </a:lnTo>
                  <a:lnTo>
                    <a:pt x="6926318" y="4493597"/>
                  </a:lnTo>
                  <a:lnTo>
                    <a:pt x="6911288" y="4540722"/>
                  </a:lnTo>
                  <a:lnTo>
                    <a:pt x="6892915" y="4586121"/>
                  </a:lnTo>
                  <a:lnTo>
                    <a:pt x="5652935" y="7435810"/>
                  </a:lnTo>
                  <a:lnTo>
                    <a:pt x="5630728" y="7484400"/>
                  </a:lnTo>
                  <a:lnTo>
                    <a:pt x="5605124" y="7529278"/>
                  </a:lnTo>
                  <a:lnTo>
                    <a:pt x="5576436" y="7570250"/>
                  </a:lnTo>
                  <a:lnTo>
                    <a:pt x="5544976" y="7607124"/>
                  </a:lnTo>
                  <a:lnTo>
                    <a:pt x="5511058" y="7639707"/>
                  </a:lnTo>
                  <a:lnTo>
                    <a:pt x="5474993" y="7667807"/>
                  </a:lnTo>
                  <a:lnTo>
                    <a:pt x="5437096" y="7691230"/>
                  </a:lnTo>
                  <a:lnTo>
                    <a:pt x="5397678" y="7709783"/>
                  </a:lnTo>
                  <a:lnTo>
                    <a:pt x="5357053" y="7723274"/>
                  </a:lnTo>
                  <a:lnTo>
                    <a:pt x="5315533" y="7731510"/>
                  </a:lnTo>
                  <a:lnTo>
                    <a:pt x="5273432" y="7734299"/>
                  </a:lnTo>
                  <a:close/>
                </a:path>
                <a:path w="6953250" h="7734300">
                  <a:moveTo>
                    <a:pt x="3278062" y="839825"/>
                  </a:moveTo>
                  <a:lnTo>
                    <a:pt x="3135855" y="839825"/>
                  </a:lnTo>
                  <a:lnTo>
                    <a:pt x="2890087" y="275050"/>
                  </a:lnTo>
                  <a:lnTo>
                    <a:pt x="2864362" y="228674"/>
                  </a:lnTo>
                  <a:lnTo>
                    <a:pt x="2830632" y="193712"/>
                  </a:lnTo>
                  <a:lnTo>
                    <a:pt x="2791316" y="171647"/>
                  </a:lnTo>
                  <a:lnTo>
                    <a:pt x="2748832" y="163963"/>
                  </a:lnTo>
                  <a:lnTo>
                    <a:pt x="2984068" y="163963"/>
                  </a:lnTo>
                  <a:lnTo>
                    <a:pt x="3278062" y="839825"/>
                  </a:lnTo>
                  <a:close/>
                </a:path>
                <a:path w="6953250" h="7734300">
                  <a:moveTo>
                    <a:pt x="2744644" y="2710972"/>
                  </a:moveTo>
                  <a:lnTo>
                    <a:pt x="1823345" y="2710972"/>
                  </a:lnTo>
                  <a:lnTo>
                    <a:pt x="1812213" y="2710477"/>
                  </a:lnTo>
                  <a:lnTo>
                    <a:pt x="1801250" y="2709007"/>
                  </a:lnTo>
                  <a:lnTo>
                    <a:pt x="1790484" y="2706591"/>
                  </a:lnTo>
                  <a:lnTo>
                    <a:pt x="1779941" y="2703255"/>
                  </a:lnTo>
                  <a:lnTo>
                    <a:pt x="1750053" y="2686678"/>
                  </a:lnTo>
                  <a:lnTo>
                    <a:pt x="2414256" y="1153747"/>
                  </a:lnTo>
                  <a:lnTo>
                    <a:pt x="2437681" y="1105136"/>
                  </a:lnTo>
                  <a:lnTo>
                    <a:pt x="2464070" y="1060245"/>
                  </a:lnTo>
                  <a:lnTo>
                    <a:pt x="2493205" y="1019266"/>
                  </a:lnTo>
                  <a:lnTo>
                    <a:pt x="2524870" y="982391"/>
                  </a:lnTo>
                  <a:lnTo>
                    <a:pt x="2558846" y="949812"/>
                  </a:lnTo>
                  <a:lnTo>
                    <a:pt x="2594917" y="921719"/>
                  </a:lnTo>
                  <a:lnTo>
                    <a:pt x="2632866" y="898304"/>
                  </a:lnTo>
                  <a:lnTo>
                    <a:pt x="2672475" y="879759"/>
                  </a:lnTo>
                  <a:lnTo>
                    <a:pt x="2713529" y="866275"/>
                  </a:lnTo>
                  <a:lnTo>
                    <a:pt x="2755814" y="858045"/>
                  </a:lnTo>
                  <a:lnTo>
                    <a:pt x="2799090" y="855259"/>
                  </a:lnTo>
                  <a:lnTo>
                    <a:pt x="3144422" y="855259"/>
                  </a:lnTo>
                  <a:lnTo>
                    <a:pt x="3347547" y="1321998"/>
                  </a:lnTo>
                  <a:lnTo>
                    <a:pt x="3361894" y="1363601"/>
                  </a:lnTo>
                  <a:lnTo>
                    <a:pt x="3369067" y="1407880"/>
                  </a:lnTo>
                  <a:lnTo>
                    <a:pt x="3369067" y="1453050"/>
                  </a:lnTo>
                  <a:lnTo>
                    <a:pt x="3361894" y="1497329"/>
                  </a:lnTo>
                  <a:lnTo>
                    <a:pt x="3347547" y="1538933"/>
                  </a:lnTo>
                  <a:lnTo>
                    <a:pt x="2885899" y="2599885"/>
                  </a:lnTo>
                  <a:lnTo>
                    <a:pt x="2860173" y="2646262"/>
                  </a:lnTo>
                  <a:lnTo>
                    <a:pt x="2826444" y="2681224"/>
                  </a:lnTo>
                  <a:lnTo>
                    <a:pt x="2787186" y="2703255"/>
                  </a:lnTo>
                  <a:lnTo>
                    <a:pt x="2744644" y="2710972"/>
                  </a:lnTo>
                  <a:close/>
                </a:path>
                <a:path w="6953250" h="7734300">
                  <a:moveTo>
                    <a:pt x="6401873" y="2874936"/>
                  </a:moveTo>
                  <a:lnTo>
                    <a:pt x="2803374" y="2874936"/>
                  </a:lnTo>
                  <a:lnTo>
                    <a:pt x="2851320" y="2866265"/>
                  </a:lnTo>
                  <a:lnTo>
                    <a:pt x="2895679" y="2841364"/>
                  </a:lnTo>
                  <a:lnTo>
                    <a:pt x="2933721" y="2801905"/>
                  </a:lnTo>
                  <a:lnTo>
                    <a:pt x="2962714" y="2749558"/>
                  </a:lnTo>
                  <a:lnTo>
                    <a:pt x="3483472" y="1552842"/>
                  </a:lnTo>
                  <a:lnTo>
                    <a:pt x="3499646" y="1505904"/>
                  </a:lnTo>
                  <a:lnTo>
                    <a:pt x="3507733" y="1455947"/>
                  </a:lnTo>
                  <a:lnTo>
                    <a:pt x="3507733" y="1404984"/>
                  </a:lnTo>
                  <a:lnTo>
                    <a:pt x="3499646" y="1355027"/>
                  </a:lnTo>
                  <a:lnTo>
                    <a:pt x="3483472" y="1308088"/>
                  </a:lnTo>
                  <a:lnTo>
                    <a:pt x="3286439" y="855259"/>
                  </a:lnTo>
                  <a:lnTo>
                    <a:pt x="5273430" y="855259"/>
                  </a:lnTo>
                  <a:lnTo>
                    <a:pt x="5315512" y="858045"/>
                  </a:lnTo>
                  <a:lnTo>
                    <a:pt x="5357018" y="866275"/>
                  </a:lnTo>
                  <a:lnTo>
                    <a:pt x="5397637" y="879759"/>
                  </a:lnTo>
                  <a:lnTo>
                    <a:pt x="5437054" y="898304"/>
                  </a:lnTo>
                  <a:lnTo>
                    <a:pt x="5474955" y="921719"/>
                  </a:lnTo>
                  <a:lnTo>
                    <a:pt x="5511026" y="949812"/>
                  </a:lnTo>
                  <a:lnTo>
                    <a:pt x="5544952" y="982391"/>
                  </a:lnTo>
                  <a:lnTo>
                    <a:pt x="5576421" y="1019266"/>
                  </a:lnTo>
                  <a:lnTo>
                    <a:pt x="5605117" y="1060245"/>
                  </a:lnTo>
                  <a:lnTo>
                    <a:pt x="5630726" y="1105136"/>
                  </a:lnTo>
                  <a:lnTo>
                    <a:pt x="5652935" y="1153747"/>
                  </a:lnTo>
                  <a:lnTo>
                    <a:pt x="6401873" y="2874936"/>
                  </a:lnTo>
                  <a:close/>
                </a:path>
                <a:path w="6953250" h="7734300">
                  <a:moveTo>
                    <a:pt x="1009892" y="6361235"/>
                  </a:moveTo>
                  <a:lnTo>
                    <a:pt x="408321" y="6361235"/>
                  </a:lnTo>
                  <a:lnTo>
                    <a:pt x="379957" y="6356201"/>
                  </a:lnTo>
                  <a:lnTo>
                    <a:pt x="332094" y="6318911"/>
                  </a:lnTo>
                  <a:lnTo>
                    <a:pt x="14634" y="5595912"/>
                  </a:lnTo>
                  <a:lnTo>
                    <a:pt x="0" y="5525077"/>
                  </a:lnTo>
                  <a:lnTo>
                    <a:pt x="3658" y="5488516"/>
                  </a:lnTo>
                  <a:lnTo>
                    <a:pt x="314753" y="4761518"/>
                  </a:lnTo>
                  <a:lnTo>
                    <a:pt x="354284" y="4708356"/>
                  </a:lnTo>
                  <a:lnTo>
                    <a:pt x="408321" y="4688920"/>
                  </a:lnTo>
                  <a:lnTo>
                    <a:pt x="1009892" y="4688920"/>
                  </a:lnTo>
                  <a:lnTo>
                    <a:pt x="1063326" y="4708356"/>
                  </a:lnTo>
                  <a:lnTo>
                    <a:pt x="1102126" y="4761518"/>
                  </a:lnTo>
                  <a:lnTo>
                    <a:pt x="1403578" y="5454242"/>
                  </a:lnTo>
                  <a:lnTo>
                    <a:pt x="1418213" y="5525077"/>
                  </a:lnTo>
                  <a:lnTo>
                    <a:pt x="1414554" y="5561638"/>
                  </a:lnTo>
                  <a:lnTo>
                    <a:pt x="1102126" y="6288637"/>
                  </a:lnTo>
                  <a:lnTo>
                    <a:pt x="1063326" y="6341763"/>
                  </a:lnTo>
                  <a:lnTo>
                    <a:pt x="1009892" y="6361235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11232" y="2521595"/>
              <a:ext cx="4805267" cy="513830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142174" y="269285"/>
            <a:ext cx="121970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1F497D"/>
                </a:solidFill>
              </a:rPr>
              <a:t>SMART</a:t>
            </a:r>
            <a:r>
              <a:rPr sz="6000" spc="-135" dirty="0">
                <a:solidFill>
                  <a:srgbClr val="1F497D"/>
                </a:solidFill>
              </a:rPr>
              <a:t> </a:t>
            </a:r>
            <a:r>
              <a:rPr sz="6000" dirty="0">
                <a:solidFill>
                  <a:srgbClr val="1F497D"/>
                </a:solidFill>
              </a:rPr>
              <a:t>INDIA</a:t>
            </a:r>
            <a:r>
              <a:rPr sz="6000" spc="-130" dirty="0">
                <a:solidFill>
                  <a:srgbClr val="1F497D"/>
                </a:solidFill>
              </a:rPr>
              <a:t> </a:t>
            </a:r>
            <a:r>
              <a:rPr sz="6000" dirty="0">
                <a:solidFill>
                  <a:srgbClr val="1F497D"/>
                </a:solidFill>
              </a:rPr>
              <a:t>HACKATHON</a:t>
            </a:r>
            <a:r>
              <a:rPr sz="6000" spc="-130" dirty="0">
                <a:solidFill>
                  <a:srgbClr val="1F497D"/>
                </a:solidFill>
              </a:rPr>
              <a:t> </a:t>
            </a:r>
            <a:r>
              <a:rPr sz="6000" spc="-20" dirty="0">
                <a:solidFill>
                  <a:srgbClr val="1F497D"/>
                </a:solidFill>
              </a:rPr>
              <a:t>2026</a:t>
            </a:r>
            <a:endParaRPr sz="6000"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355422" y="2900109"/>
            <a:ext cx="12315190" cy="6620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50" dirty="0"/>
              <a:t> </a:t>
            </a:r>
            <a:r>
              <a:rPr dirty="0"/>
              <a:t>Statement</a:t>
            </a:r>
            <a:r>
              <a:rPr spc="-45" dirty="0"/>
              <a:t> </a:t>
            </a:r>
            <a:r>
              <a:rPr dirty="0"/>
              <a:t>ID</a:t>
            </a:r>
            <a:r>
              <a:rPr spc="-50" dirty="0"/>
              <a:t> </a:t>
            </a:r>
            <a:r>
              <a:rPr dirty="0"/>
              <a:t>-</a:t>
            </a:r>
            <a:r>
              <a:rPr spc="-40" dirty="0"/>
              <a:t> </a:t>
            </a:r>
            <a:r>
              <a:rPr b="0" spc="-10" dirty="0">
                <a:latin typeface="Times New Roman"/>
                <a:cs typeface="Times New Roman"/>
              </a:rPr>
              <a:t>SIH26129</a:t>
            </a:r>
          </a:p>
          <a:p>
            <a:pPr marL="12700" marR="5080">
              <a:lnSpc>
                <a:spcPct val="206999"/>
              </a:lnSpc>
            </a:pPr>
            <a:r>
              <a:rPr dirty="0"/>
              <a:t>Problem</a:t>
            </a:r>
            <a:r>
              <a:rPr spc="60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dirty="0"/>
              <a:t>Title</a:t>
            </a:r>
            <a:r>
              <a:rPr spc="60" dirty="0"/>
              <a:t> </a:t>
            </a:r>
            <a:r>
              <a:rPr dirty="0"/>
              <a:t>-</a:t>
            </a:r>
            <a:r>
              <a:rPr spc="65" dirty="0"/>
              <a:t> </a:t>
            </a:r>
            <a:r>
              <a:rPr b="0" dirty="0">
                <a:latin typeface="Times New Roman"/>
                <a:cs typeface="Times New Roman"/>
              </a:rPr>
              <a:t>System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integration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interoperability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among </a:t>
            </a:r>
            <a:r>
              <a:rPr b="0" dirty="0">
                <a:latin typeface="Times New Roman"/>
                <a:cs typeface="Times New Roman"/>
              </a:rPr>
              <a:t>government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digital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platforms,resulting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fragmented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service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delivery </a:t>
            </a:r>
            <a:r>
              <a:rPr dirty="0"/>
              <a:t>Theme</a:t>
            </a:r>
            <a:r>
              <a:rPr spc="-4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b="0" spc="-10" dirty="0">
                <a:latin typeface="Times New Roman"/>
                <a:cs typeface="Times New Roman"/>
              </a:rPr>
              <a:t>Miscellaneous</a:t>
            </a: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b="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/>
              <a:t>PS</a:t>
            </a:r>
            <a:r>
              <a:rPr spc="-40" dirty="0"/>
              <a:t> </a:t>
            </a:r>
            <a:r>
              <a:rPr dirty="0"/>
              <a:t>Category</a:t>
            </a:r>
            <a:r>
              <a:rPr spc="-35" dirty="0"/>
              <a:t> </a:t>
            </a:r>
            <a:r>
              <a:rPr lang="en-US" spc="-35" dirty="0"/>
              <a:t>-</a:t>
            </a:r>
            <a:r>
              <a:rPr spc="-30" dirty="0"/>
              <a:t> </a:t>
            </a:r>
            <a:r>
              <a:rPr b="0" spc="-10" dirty="0">
                <a:latin typeface="Times New Roman"/>
                <a:cs typeface="Times New Roman"/>
              </a:rPr>
              <a:t>Software</a:t>
            </a:r>
            <a:endParaRPr lang="en-US" b="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en-IN" b="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IN" spc="-10" dirty="0"/>
              <a:t>Team ID - 139985</a:t>
            </a:r>
            <a:endParaRPr spc="-1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b="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/>
              <a:t>Team</a:t>
            </a:r>
            <a:r>
              <a:rPr spc="-40" dirty="0"/>
              <a:t> </a:t>
            </a:r>
            <a:r>
              <a:rPr dirty="0"/>
              <a:t>Name</a:t>
            </a:r>
            <a:r>
              <a:rPr spc="-40" dirty="0"/>
              <a:t> </a:t>
            </a:r>
            <a:r>
              <a:rPr lang="en-US" spc="-40" dirty="0"/>
              <a:t>-</a:t>
            </a:r>
            <a:r>
              <a:rPr spc="-40" dirty="0"/>
              <a:t> </a:t>
            </a:r>
            <a:r>
              <a:rPr spc="-10" dirty="0"/>
              <a:t>One</a:t>
            </a:r>
            <a:r>
              <a:rPr spc="-10" dirty="0">
                <a:solidFill>
                  <a:srgbClr val="006169"/>
                </a:solidFill>
              </a:rPr>
              <a:t>Desk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79345" y="9525"/>
            <a:ext cx="2578124" cy="120665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7311290" y="9420332"/>
            <a:ext cx="839469" cy="661670"/>
          </a:xfrm>
          <a:custGeom>
            <a:avLst/>
            <a:gdLst/>
            <a:ahLst/>
            <a:cxnLst/>
            <a:rect l="l" t="t" r="r" b="b"/>
            <a:pathLst>
              <a:path w="839469" h="661670">
                <a:moveTo>
                  <a:pt x="422736" y="661522"/>
                </a:moveTo>
                <a:lnTo>
                  <a:pt x="416374" y="661522"/>
                </a:lnTo>
                <a:lnTo>
                  <a:pt x="373729" y="659728"/>
                </a:lnTo>
                <a:lnTo>
                  <a:pt x="331459" y="654372"/>
                </a:lnTo>
                <a:lnTo>
                  <a:pt x="289787" y="645492"/>
                </a:lnTo>
                <a:lnTo>
                  <a:pt x="248935" y="633124"/>
                </a:lnTo>
                <a:lnTo>
                  <a:pt x="206194" y="616225"/>
                </a:lnTo>
                <a:lnTo>
                  <a:pt x="171409" y="598199"/>
                </a:lnTo>
                <a:lnTo>
                  <a:pt x="138481" y="576967"/>
                </a:lnTo>
                <a:lnTo>
                  <a:pt x="107641" y="552662"/>
                </a:lnTo>
                <a:lnTo>
                  <a:pt x="76991" y="523277"/>
                </a:lnTo>
                <a:lnTo>
                  <a:pt x="35680" y="465509"/>
                </a:lnTo>
                <a:lnTo>
                  <a:pt x="8660" y="398577"/>
                </a:lnTo>
                <a:lnTo>
                  <a:pt x="0" y="330483"/>
                </a:lnTo>
                <a:lnTo>
                  <a:pt x="2335" y="296026"/>
                </a:lnTo>
                <a:lnTo>
                  <a:pt x="19881" y="229385"/>
                </a:lnTo>
                <a:lnTo>
                  <a:pt x="53347" y="169143"/>
                </a:lnTo>
                <a:lnTo>
                  <a:pt x="79892" y="136203"/>
                </a:lnTo>
                <a:lnTo>
                  <a:pt x="135292" y="86779"/>
                </a:lnTo>
                <a:lnTo>
                  <a:pt x="172957" y="63055"/>
                </a:lnTo>
                <a:lnTo>
                  <a:pt x="209457" y="44327"/>
                </a:lnTo>
                <a:lnTo>
                  <a:pt x="247384" y="28899"/>
                </a:lnTo>
                <a:lnTo>
                  <a:pt x="286516" y="16849"/>
                </a:lnTo>
                <a:lnTo>
                  <a:pt x="326630" y="8258"/>
                </a:lnTo>
                <a:lnTo>
                  <a:pt x="375786" y="1827"/>
                </a:lnTo>
                <a:lnTo>
                  <a:pt x="419556" y="0"/>
                </a:lnTo>
                <a:lnTo>
                  <a:pt x="463325" y="1827"/>
                </a:lnTo>
                <a:lnTo>
                  <a:pt x="506865" y="7311"/>
                </a:lnTo>
                <a:lnTo>
                  <a:pt x="552595" y="16849"/>
                </a:lnTo>
                <a:lnTo>
                  <a:pt x="591727" y="28899"/>
                </a:lnTo>
                <a:lnTo>
                  <a:pt x="629655" y="44327"/>
                </a:lnTo>
                <a:lnTo>
                  <a:pt x="666155" y="63055"/>
                </a:lnTo>
                <a:lnTo>
                  <a:pt x="703819" y="86779"/>
                </a:lnTo>
                <a:lnTo>
                  <a:pt x="759219" y="136203"/>
                </a:lnTo>
                <a:lnTo>
                  <a:pt x="785765" y="169143"/>
                </a:lnTo>
                <a:lnTo>
                  <a:pt x="819230" y="229385"/>
                </a:lnTo>
                <a:lnTo>
                  <a:pt x="836775" y="296026"/>
                </a:lnTo>
                <a:lnTo>
                  <a:pt x="839111" y="330483"/>
                </a:lnTo>
                <a:lnTo>
                  <a:pt x="836985" y="364810"/>
                </a:lnTo>
                <a:lnTo>
                  <a:pt x="819564" y="431352"/>
                </a:lnTo>
                <a:lnTo>
                  <a:pt x="784473" y="495607"/>
                </a:lnTo>
                <a:lnTo>
                  <a:pt x="736588" y="548220"/>
                </a:lnTo>
                <a:lnTo>
                  <a:pt x="700629" y="576967"/>
                </a:lnTo>
                <a:lnTo>
                  <a:pt x="667702" y="598199"/>
                </a:lnTo>
                <a:lnTo>
                  <a:pt x="632916" y="616225"/>
                </a:lnTo>
                <a:lnTo>
                  <a:pt x="596501" y="630915"/>
                </a:lnTo>
                <a:lnTo>
                  <a:pt x="549323" y="645492"/>
                </a:lnTo>
                <a:lnTo>
                  <a:pt x="507651" y="654372"/>
                </a:lnTo>
                <a:lnTo>
                  <a:pt x="465382" y="659728"/>
                </a:lnTo>
                <a:lnTo>
                  <a:pt x="422736" y="661522"/>
                </a:lnTo>
                <a:close/>
              </a:path>
            </a:pathLst>
          </a:custGeom>
          <a:solidFill>
            <a:srgbClr val="00616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7632880" y="9508422"/>
            <a:ext cx="196215" cy="434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3977640" y="219456"/>
            <a:ext cx="103555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SOLUTION AND UNIQUENESS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80060" y="1152144"/>
            <a:ext cx="8023860" cy="493776"/>
          </a:xfrm>
          <a:prstGeom prst="rect">
            <a:avLst/>
          </a:prstGeom>
          <a:solidFill>
            <a:srgbClr val="1E9E5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480060" y="1152144"/>
            <a:ext cx="80238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983980" y="1152144"/>
            <a:ext cx="8023860" cy="493776"/>
          </a:xfrm>
          <a:prstGeom prst="rect">
            <a:avLst/>
          </a:prstGeom>
          <a:solidFill>
            <a:srgbClr val="4C5C6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8983980" y="1152144"/>
            <a:ext cx="80238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ADDRESSAL APPROACH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" y="1706084"/>
            <a:ext cx="7804404" cy="4594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buSzPct val="100000"/>
              <a:buChar char="■"/>
            </a:pPr>
            <a:r>
              <a:rPr lang="en-US" sz="1875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Federated Identity - </a:t>
            </a:r>
            <a:r>
              <a:rPr lang="en-US" sz="1875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OneDesk ID unifies every department's citizen record, while each department keeps its own data.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■"/>
            </a:pPr>
            <a:r>
              <a:rPr lang="en-US" sz="1875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Consent-Based Exchange - </a:t>
            </a:r>
            <a:r>
              <a:rPr lang="en-US" sz="1875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requirement-bound, time-limited, revocable access, modelled on India's DEPA (Data Empowerment and Protection Architecture) / Account Aggregator standard.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■"/>
            </a:pPr>
            <a:r>
              <a:rPr lang="en-US" sz="1875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Unified Application Tracking - </a:t>
            </a:r>
            <a:r>
              <a:rPr lang="en-US" sz="1875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one live status across Identity, Government Registries,  different departments like (Tax, Municipal, Revenue) verification steps, </a:t>
            </a:r>
            <a:r>
              <a:rPr lang="en-IN" sz="18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delays and multilingual support across all the languages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■"/>
            </a:pPr>
            <a:r>
              <a:rPr lang="en-US" sz="1875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Universal Connector Framework - </a:t>
            </a:r>
            <a:r>
              <a:rPr lang="en-US" sz="1875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REST, legacy SOAP and database systems join through adapters without rebuilding the existing systems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■"/>
            </a:pPr>
            <a:r>
              <a:rPr lang="en-US" sz="1875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Operations Console - </a:t>
            </a:r>
            <a:r>
              <a:rPr lang="en-US" sz="1875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real-time visibility into workflows, data quality, SLAs (Service Level Agreement) and full audit trails for officials.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9011412" y="1759170"/>
            <a:ext cx="7941564" cy="349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17794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Data Format Matching: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A common data mapping layer resolves schema mismatches - e.g. full-name/DOB vs name/</a:t>
            </a:r>
            <a:r>
              <a:rPr lang="en-US" dirty="0" err="1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dateOfBirth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- before any record crosses a department boundary.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17794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Trust &amp; Accountability: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Consent-based access ensures that data can be accessed only with valid permission, while an immutable audit log records every authorized data access for transparency and accountability</a:t>
            </a:r>
            <a:r>
              <a:rPr lang="en-US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17794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Zero-Trust Security: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Every service-to-service call is encrypted and mutually authenticated, with automated backups and alerting keeping the platform resilient by default.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1779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department can access only the data needed for its work.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ea typeface="Times New Roman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929843" y="6002755"/>
            <a:ext cx="8161020" cy="905256"/>
          </a:xfrm>
          <a:prstGeom prst="rect">
            <a:avLst/>
          </a:prstGeom>
          <a:solidFill>
            <a:srgbClr val="F2F3F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951259" y="6016391"/>
            <a:ext cx="68580" cy="905256"/>
          </a:xfrm>
          <a:prstGeom prst="rect">
            <a:avLst/>
          </a:prstGeom>
          <a:solidFill>
            <a:srgbClr val="1E9E5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9079992" y="6102457"/>
            <a:ext cx="78729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cross-department request is </a:t>
            </a:r>
            <a:r>
              <a:rPr lang="en-US" b="1" dirty="0">
                <a:solidFill>
                  <a:srgbClr val="177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authenticated, signed and logged end-to-end</a:t>
            </a: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through Keycloak.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0" y="9683496"/>
            <a:ext cx="18283428" cy="411480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6" name="Text 44"/>
          <p:cNvSpPr txBox="1"/>
          <p:nvPr/>
        </p:nvSpPr>
        <p:spPr>
          <a:xfrm>
            <a:off x="480060" y="9683496"/>
            <a:ext cx="34646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IDENTITY</a:t>
            </a:r>
            <a:endParaRPr lang="en-US" sz="1575" dirty="0"/>
          </a:p>
        </p:txBody>
      </p:sp>
      <p:sp>
        <p:nvSpPr>
          <p:cNvPr id="47" name="Text 45"/>
          <p:cNvSpPr txBox="1"/>
          <p:nvPr/>
        </p:nvSpPr>
        <p:spPr>
          <a:xfrm>
            <a:off x="3944721" y="9683496"/>
            <a:ext cx="34646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APPLICATION</a:t>
            </a:r>
            <a:endParaRPr lang="en-US" sz="1575" dirty="0"/>
          </a:p>
        </p:txBody>
      </p:sp>
      <p:sp>
        <p:nvSpPr>
          <p:cNvPr id="48" name="Text 46"/>
          <p:cNvSpPr txBox="1"/>
          <p:nvPr/>
        </p:nvSpPr>
        <p:spPr>
          <a:xfrm>
            <a:off x="7409384" y="9683496"/>
            <a:ext cx="34646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PLATFORM</a:t>
            </a:r>
            <a:endParaRPr lang="en-US" sz="1575" dirty="0"/>
          </a:p>
        </p:txBody>
      </p:sp>
      <p:sp>
        <p:nvSpPr>
          <p:cNvPr id="49" name="Text 47"/>
          <p:cNvSpPr txBox="1"/>
          <p:nvPr/>
        </p:nvSpPr>
        <p:spPr>
          <a:xfrm>
            <a:off x="10874045" y="9683496"/>
            <a:ext cx="34646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TRUST</a:t>
            </a:r>
            <a:endParaRPr lang="en-US" sz="1575" dirty="0"/>
          </a:p>
        </p:txBody>
      </p:sp>
      <p:sp>
        <p:nvSpPr>
          <p:cNvPr id="50" name="Text 48"/>
          <p:cNvSpPr txBox="1"/>
          <p:nvPr/>
        </p:nvSpPr>
        <p:spPr>
          <a:xfrm>
            <a:off x="14338707" y="9683496"/>
            <a:ext cx="34646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EXPERIENCE</a:t>
            </a:r>
            <a:endParaRPr lang="en-US" sz="1575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495342-38E4-60F5-3949-E657F1602A02}"/>
              </a:ext>
            </a:extLst>
          </p:cNvPr>
          <p:cNvGrpSpPr/>
          <p:nvPr/>
        </p:nvGrpSpPr>
        <p:grpSpPr>
          <a:xfrm>
            <a:off x="0" y="0"/>
            <a:ext cx="2743201" cy="706896"/>
            <a:chOff x="228599" y="192025"/>
            <a:chExt cx="2743201" cy="706896"/>
          </a:xfrm>
        </p:grpSpPr>
        <p:pic>
          <p:nvPicPr>
            <p:cNvPr id="58" name="object 10">
              <a:extLst>
                <a:ext uri="{FF2B5EF4-FFF2-40B4-BE49-F238E27FC236}">
                  <a16:creationId xmlns:a16="http://schemas.microsoft.com/office/drawing/2014/main" id="{B138708E-5E6A-88B3-1FC4-B1EC74D4CF4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599" y="192025"/>
              <a:ext cx="2300762" cy="544672"/>
            </a:xfrm>
            <a:prstGeom prst="rect">
              <a:avLst/>
            </a:prstGeom>
          </p:spPr>
        </p:pic>
        <p:sp>
          <p:nvSpPr>
            <p:cNvPr id="60" name="object 11">
              <a:extLst>
                <a:ext uri="{FF2B5EF4-FFF2-40B4-BE49-F238E27FC236}">
                  <a16:creationId xmlns:a16="http://schemas.microsoft.com/office/drawing/2014/main" id="{9EA9144F-8262-B3E3-59FC-86401B309121}"/>
                </a:ext>
              </a:extLst>
            </p:cNvPr>
            <p:cNvSpPr txBox="1"/>
            <p:nvPr/>
          </p:nvSpPr>
          <p:spPr>
            <a:xfrm>
              <a:off x="252420" y="736697"/>
              <a:ext cx="2719380" cy="16222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Citizen,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Government,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lang="en-US" sz="950" spc="-10" dirty="0">
                  <a:latin typeface="Times New Roman"/>
                  <a:cs typeface="Times New Roman"/>
                </a:rPr>
                <a:t>Platform</a:t>
              </a:r>
              <a:r>
                <a:rPr sz="950" spc="-10" dirty="0">
                  <a:latin typeface="Times New Roman"/>
                  <a:cs typeface="Times New Roman"/>
                </a:rPr>
                <a:t>.</a:t>
              </a:r>
              <a:endParaRPr sz="950" dirty="0">
                <a:latin typeface="Times New Roman"/>
                <a:cs typeface="Times New Roman"/>
              </a:endParaRPr>
            </a:p>
          </p:txBody>
        </p:sp>
      </p:grpSp>
      <p:sp>
        <p:nvSpPr>
          <p:cNvPr id="62" name="object 27">
            <a:extLst>
              <a:ext uri="{FF2B5EF4-FFF2-40B4-BE49-F238E27FC236}">
                <a16:creationId xmlns:a16="http://schemas.microsoft.com/office/drawing/2014/main" id="{96C04203-ED06-C48F-C87B-DE3DBB11931D}"/>
              </a:ext>
            </a:extLst>
          </p:cNvPr>
          <p:cNvSpPr/>
          <p:nvPr/>
        </p:nvSpPr>
        <p:spPr>
          <a:xfrm>
            <a:off x="17311290" y="9420332"/>
            <a:ext cx="839469" cy="661670"/>
          </a:xfrm>
          <a:custGeom>
            <a:avLst/>
            <a:gdLst/>
            <a:ahLst/>
            <a:cxnLst/>
            <a:rect l="l" t="t" r="r" b="b"/>
            <a:pathLst>
              <a:path w="839469" h="661670">
                <a:moveTo>
                  <a:pt x="422736" y="661522"/>
                </a:moveTo>
                <a:lnTo>
                  <a:pt x="416374" y="661522"/>
                </a:lnTo>
                <a:lnTo>
                  <a:pt x="373729" y="659728"/>
                </a:lnTo>
                <a:lnTo>
                  <a:pt x="331459" y="654372"/>
                </a:lnTo>
                <a:lnTo>
                  <a:pt x="289787" y="645492"/>
                </a:lnTo>
                <a:lnTo>
                  <a:pt x="248935" y="633124"/>
                </a:lnTo>
                <a:lnTo>
                  <a:pt x="206194" y="616225"/>
                </a:lnTo>
                <a:lnTo>
                  <a:pt x="171409" y="598199"/>
                </a:lnTo>
                <a:lnTo>
                  <a:pt x="138481" y="576967"/>
                </a:lnTo>
                <a:lnTo>
                  <a:pt x="107641" y="552662"/>
                </a:lnTo>
                <a:lnTo>
                  <a:pt x="76991" y="523277"/>
                </a:lnTo>
                <a:lnTo>
                  <a:pt x="35680" y="465509"/>
                </a:lnTo>
                <a:lnTo>
                  <a:pt x="8660" y="398577"/>
                </a:lnTo>
                <a:lnTo>
                  <a:pt x="0" y="330483"/>
                </a:lnTo>
                <a:lnTo>
                  <a:pt x="2335" y="296026"/>
                </a:lnTo>
                <a:lnTo>
                  <a:pt x="19881" y="229385"/>
                </a:lnTo>
                <a:lnTo>
                  <a:pt x="53347" y="169143"/>
                </a:lnTo>
                <a:lnTo>
                  <a:pt x="79892" y="136203"/>
                </a:lnTo>
                <a:lnTo>
                  <a:pt x="135292" y="86779"/>
                </a:lnTo>
                <a:lnTo>
                  <a:pt x="172957" y="63055"/>
                </a:lnTo>
                <a:lnTo>
                  <a:pt x="209457" y="44327"/>
                </a:lnTo>
                <a:lnTo>
                  <a:pt x="247384" y="28899"/>
                </a:lnTo>
                <a:lnTo>
                  <a:pt x="286516" y="16849"/>
                </a:lnTo>
                <a:lnTo>
                  <a:pt x="326630" y="8258"/>
                </a:lnTo>
                <a:lnTo>
                  <a:pt x="375786" y="1827"/>
                </a:lnTo>
                <a:lnTo>
                  <a:pt x="419556" y="0"/>
                </a:lnTo>
                <a:lnTo>
                  <a:pt x="463325" y="1827"/>
                </a:lnTo>
                <a:lnTo>
                  <a:pt x="506865" y="7311"/>
                </a:lnTo>
                <a:lnTo>
                  <a:pt x="552595" y="16849"/>
                </a:lnTo>
                <a:lnTo>
                  <a:pt x="591727" y="28899"/>
                </a:lnTo>
                <a:lnTo>
                  <a:pt x="629655" y="44327"/>
                </a:lnTo>
                <a:lnTo>
                  <a:pt x="666155" y="63055"/>
                </a:lnTo>
                <a:lnTo>
                  <a:pt x="703819" y="86779"/>
                </a:lnTo>
                <a:lnTo>
                  <a:pt x="759219" y="136203"/>
                </a:lnTo>
                <a:lnTo>
                  <a:pt x="785765" y="169143"/>
                </a:lnTo>
                <a:lnTo>
                  <a:pt x="819230" y="229385"/>
                </a:lnTo>
                <a:lnTo>
                  <a:pt x="836775" y="296026"/>
                </a:lnTo>
                <a:lnTo>
                  <a:pt x="839111" y="330483"/>
                </a:lnTo>
                <a:lnTo>
                  <a:pt x="836985" y="364810"/>
                </a:lnTo>
                <a:lnTo>
                  <a:pt x="819564" y="431352"/>
                </a:lnTo>
                <a:lnTo>
                  <a:pt x="784473" y="495607"/>
                </a:lnTo>
                <a:lnTo>
                  <a:pt x="736588" y="548220"/>
                </a:lnTo>
                <a:lnTo>
                  <a:pt x="700629" y="576967"/>
                </a:lnTo>
                <a:lnTo>
                  <a:pt x="667702" y="598199"/>
                </a:lnTo>
                <a:lnTo>
                  <a:pt x="632916" y="616225"/>
                </a:lnTo>
                <a:lnTo>
                  <a:pt x="596501" y="630915"/>
                </a:lnTo>
                <a:lnTo>
                  <a:pt x="549323" y="645492"/>
                </a:lnTo>
                <a:lnTo>
                  <a:pt x="507651" y="654372"/>
                </a:lnTo>
                <a:lnTo>
                  <a:pt x="465382" y="659728"/>
                </a:lnTo>
                <a:lnTo>
                  <a:pt x="422736" y="661522"/>
                </a:lnTo>
                <a:close/>
              </a:path>
            </a:pathLst>
          </a:custGeom>
          <a:solidFill>
            <a:srgbClr val="00616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36">
            <a:extLst>
              <a:ext uri="{FF2B5EF4-FFF2-40B4-BE49-F238E27FC236}">
                <a16:creationId xmlns:a16="http://schemas.microsoft.com/office/drawing/2014/main" id="{1BC33DDF-615E-B5CA-BB65-DF9DBF4EDA6D}"/>
              </a:ext>
            </a:extLst>
          </p:cNvPr>
          <p:cNvSpPr txBox="1"/>
          <p:nvPr/>
        </p:nvSpPr>
        <p:spPr>
          <a:xfrm>
            <a:off x="17632880" y="9508422"/>
            <a:ext cx="196215" cy="434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650" dirty="0">
              <a:latin typeface="Times New Roman"/>
              <a:cs typeface="Times New Roman"/>
            </a:endParaRP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B9239788-B79F-FA22-6140-11BB968A055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73781" y="111095"/>
            <a:ext cx="1465605" cy="8414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876191C-D2B8-F514-A264-A37386F4BCD7}"/>
              </a:ext>
            </a:extLst>
          </p:cNvPr>
          <p:cNvGrpSpPr/>
          <p:nvPr/>
        </p:nvGrpSpPr>
        <p:grpSpPr>
          <a:xfrm>
            <a:off x="507492" y="6888645"/>
            <a:ext cx="17323308" cy="2903055"/>
            <a:chOff x="480060" y="6643281"/>
            <a:chExt cx="17323308" cy="2903055"/>
          </a:xfrm>
        </p:grpSpPr>
        <p:sp>
          <p:nvSpPr>
            <p:cNvPr id="19" name="Text 17"/>
            <p:cNvSpPr txBox="1"/>
            <p:nvPr/>
          </p:nvSpPr>
          <p:spPr>
            <a:xfrm>
              <a:off x="497989" y="6643281"/>
              <a:ext cx="7651201" cy="6446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100" b="1" dirty="0">
                  <a:solidFill>
                    <a:srgbClr val="17794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WHAT MAKES ONEDESK DIFFERENT</a:t>
              </a:r>
              <a:endParaRPr lang="en-US" sz="2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80060" y="7184136"/>
              <a:ext cx="17323308" cy="0"/>
            </a:xfrm>
            <a:prstGeom prst="line">
              <a:avLst/>
            </a:prstGeom>
            <a:noFill/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1992935" y="7341442"/>
              <a:ext cx="438912" cy="438912"/>
            </a:xfrm>
            <a:prstGeom prst="ellipse">
              <a:avLst/>
            </a:prstGeom>
            <a:solidFill>
              <a:srgbClr val="1E9E5C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1992935" y="7341442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699516" y="7862650"/>
              <a:ext cx="3025749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5000"/>
                </a:lnSpc>
              </a:pPr>
              <a:r>
                <a:rPr lang="en-US" sz="1875" b="1" dirty="0">
                  <a:solidFill>
                    <a:srgbClr val="222222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Keycloak-Powered Identity</a:t>
              </a:r>
              <a:endParaRPr lang="en-US" sz="1875" dirty="0"/>
            </a:p>
          </p:txBody>
        </p:sp>
        <p:sp>
          <p:nvSpPr>
            <p:cNvPr id="25" name="Shape 23"/>
            <p:cNvSpPr/>
            <p:nvPr/>
          </p:nvSpPr>
          <p:spPr>
            <a:xfrm flipH="1">
              <a:off x="3878905" y="7560894"/>
              <a:ext cx="32907" cy="1723353"/>
            </a:xfrm>
            <a:prstGeom prst="line">
              <a:avLst/>
            </a:prstGeom>
            <a:noFill/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457597" y="7341442"/>
              <a:ext cx="438912" cy="438912"/>
            </a:xfrm>
            <a:prstGeom prst="ellipse">
              <a:avLst/>
            </a:prstGeom>
            <a:solidFill>
              <a:srgbClr val="C8681F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5457597" y="7341442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4164177" y="7862650"/>
              <a:ext cx="3025749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5000"/>
                </a:lnSpc>
              </a:pPr>
              <a:r>
                <a: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Repeated Data Entry</a:t>
              </a:r>
              <a:endParaRPr lang="en-US" sz="1875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4164177" y="8325612"/>
              <a:ext cx="3025749" cy="12207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18000"/>
                </a:lnSpc>
              </a:pPr>
              <a:r>
                <a:rPr lang="en-US" dirty="0">
                  <a:solidFill>
                    <a:srgbClr val="4444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Submit once - departments reuse the same verified record instead of asking again.</a:t>
              </a:r>
              <a:endParaRPr lang="en-US" dirty="0"/>
            </a:p>
          </p:txBody>
        </p:sp>
        <p:sp>
          <p:nvSpPr>
            <p:cNvPr id="30" name="Shape 28"/>
            <p:cNvSpPr/>
            <p:nvPr/>
          </p:nvSpPr>
          <p:spPr>
            <a:xfrm flipH="1">
              <a:off x="7343568" y="7560899"/>
              <a:ext cx="32906" cy="1723362"/>
            </a:xfrm>
            <a:prstGeom prst="line">
              <a:avLst/>
            </a:prstGeom>
            <a:noFill/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8922258" y="7341442"/>
              <a:ext cx="438912" cy="438912"/>
            </a:xfrm>
            <a:prstGeom prst="ellipse">
              <a:avLst/>
            </a:prstGeom>
            <a:solidFill>
              <a:srgbClr val="2E5FA3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8922258" y="7341442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7628840" y="7862650"/>
              <a:ext cx="3025749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5000"/>
                </a:lnSpc>
              </a:pPr>
              <a:r>
                <a: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 Recovery</a:t>
              </a:r>
              <a:endParaRPr lang="en-US" sz="1875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7628840" y="8325612"/>
              <a:ext cx="3025749" cy="12207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18000"/>
                </a:lnSpc>
              </a:pPr>
              <a:r>
                <a:rPr lang="en-US" dirty="0">
                  <a:solidFill>
                    <a:srgbClr val="4444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 a specific department's system goes down mid-workflow, only that step pauses and retries.</a:t>
              </a:r>
              <a:endParaRPr lang="en-US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0841137" y="7560894"/>
              <a:ext cx="0" cy="1723366"/>
            </a:xfrm>
            <a:prstGeom prst="line">
              <a:avLst/>
            </a:prstGeom>
            <a:noFill/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2386919" y="7341442"/>
              <a:ext cx="438912" cy="438912"/>
            </a:xfrm>
            <a:prstGeom prst="ellipse">
              <a:avLst/>
            </a:prstGeom>
            <a:solidFill>
              <a:srgbClr val="6C4C9C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 35"/>
            <p:cNvSpPr txBox="1"/>
            <p:nvPr/>
          </p:nvSpPr>
          <p:spPr>
            <a:xfrm>
              <a:off x="12386919" y="7341442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dirty="0"/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11093501" y="7862650"/>
              <a:ext cx="3025749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5000"/>
                </a:lnSpc>
              </a:pPr>
              <a:r>
                <a: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Easy Modernization</a:t>
              </a:r>
              <a:endParaRPr lang="en-US" sz="1875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37"/>
            <p:cNvSpPr txBox="1"/>
            <p:nvPr/>
          </p:nvSpPr>
          <p:spPr>
            <a:xfrm>
              <a:off x="11093501" y="8325612"/>
              <a:ext cx="3025749" cy="12207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18000"/>
                </a:lnSpc>
              </a:pPr>
              <a:r>
                <a:rPr lang="en-US" dirty="0">
                  <a:solidFill>
                    <a:srgbClr val="4444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Legacy systems join via adapters now and modernize later, on their own timeline.</a:t>
              </a:r>
              <a:endParaRPr lang="en-US" dirty="0"/>
            </a:p>
          </p:txBody>
        </p:sp>
        <p:sp>
          <p:nvSpPr>
            <p:cNvPr id="40" name="Shape 38"/>
            <p:cNvSpPr/>
            <p:nvPr/>
          </p:nvSpPr>
          <p:spPr>
            <a:xfrm flipH="1">
              <a:off x="14371573" y="7560894"/>
              <a:ext cx="3" cy="1723353"/>
            </a:xfrm>
            <a:prstGeom prst="line">
              <a:avLst/>
            </a:prstGeom>
            <a:noFill/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15851582" y="7341442"/>
              <a:ext cx="438912" cy="438912"/>
            </a:xfrm>
            <a:prstGeom prst="ellipse">
              <a:avLst/>
            </a:prstGeom>
            <a:solidFill>
              <a:srgbClr val="1E5B3A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15851582" y="7341442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dirty="0"/>
            </a:p>
          </p:txBody>
        </p:sp>
        <p:sp>
          <p:nvSpPr>
            <p:cNvPr id="43" name="Text 41"/>
            <p:cNvSpPr txBox="1"/>
            <p:nvPr/>
          </p:nvSpPr>
          <p:spPr>
            <a:xfrm>
              <a:off x="14558163" y="7862650"/>
              <a:ext cx="3025749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5000"/>
                </a:lnSpc>
              </a:pPr>
              <a:r>
                <a:rPr lang="en-US" sz="1875" b="1" dirty="0">
                  <a:solidFill>
                    <a:srgbClr val="222222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Complete Traceability</a:t>
              </a:r>
              <a:endParaRPr lang="en-US" sz="1875" dirty="0"/>
            </a:p>
          </p:txBody>
        </p:sp>
        <p:sp>
          <p:nvSpPr>
            <p:cNvPr id="44" name="Text 42"/>
            <p:cNvSpPr txBox="1"/>
            <p:nvPr/>
          </p:nvSpPr>
          <p:spPr>
            <a:xfrm>
              <a:off x="14558163" y="8325612"/>
              <a:ext cx="3025749" cy="12207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18000"/>
                </a:lnSpc>
              </a:pPr>
              <a:r>
                <a:rPr lang="en-US" dirty="0">
                  <a:solidFill>
                    <a:srgbClr val="4444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Every access and consent event is timestamped, for auditors and citizens alike.</a:t>
              </a:r>
              <a:endParaRPr lang="en-US" dirty="0"/>
            </a:p>
          </p:txBody>
        </p:sp>
        <p:sp>
          <p:nvSpPr>
            <p:cNvPr id="3" name="Text 27">
              <a:extLst>
                <a:ext uri="{FF2B5EF4-FFF2-40B4-BE49-F238E27FC236}">
                  <a16:creationId xmlns:a16="http://schemas.microsoft.com/office/drawing/2014/main" id="{17F54109-4095-D167-9CF3-2BD42CE92A2D}"/>
                </a:ext>
              </a:extLst>
            </p:cNvPr>
            <p:cNvSpPr txBox="1"/>
            <p:nvPr/>
          </p:nvSpPr>
          <p:spPr>
            <a:xfrm>
              <a:off x="699516" y="8300548"/>
              <a:ext cx="3025749" cy="12207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18000"/>
                </a:lnSpc>
              </a:pPr>
              <a:r>
                <a:rPr lang="en-US" dirty="0">
                  <a:solidFill>
                    <a:srgbClr val="44444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 single login lets users access all the services without signing in separately.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Technical Approach Diagram" descr="onedesk_technical_approach_v2.png"/>
          <p:cNvPicPr>
            <a:picLocks noChangeAspect="1"/>
          </p:cNvPicPr>
          <p:nvPr/>
        </p:nvPicPr>
        <p:blipFill>
          <a:blip r:embed="rId3"/>
          <a:srcRect l="2803" t="9261" r="2803" b="24093"/>
          <a:stretch>
            <a:fillRect/>
          </a:stretch>
        </p:blipFill>
        <p:spPr>
          <a:xfrm>
            <a:off x="152400" y="736030"/>
            <a:ext cx="17649099" cy="7863752"/>
          </a:xfrm>
          <a:prstGeom prst="rect">
            <a:avLst/>
          </a:prstGeom>
        </p:spPr>
      </p:pic>
      <p:pic>
        <p:nvPicPr>
          <p:cNvPr id="3" name="Technical Approach Diagram" descr="onedesk_technical_approach_v2.png">
            <a:extLst>
              <a:ext uri="{FF2B5EF4-FFF2-40B4-BE49-F238E27FC236}">
                <a16:creationId xmlns:a16="http://schemas.microsoft.com/office/drawing/2014/main" id="{DAE1FDAB-FC3B-30F0-D5EE-45941C6555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9" t="78497" r="13730" b="7603"/>
          <a:stretch>
            <a:fillRect/>
          </a:stretch>
        </p:blipFill>
        <p:spPr>
          <a:xfrm>
            <a:off x="304800" y="8496300"/>
            <a:ext cx="16349960" cy="1719257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3608388" y="-38100"/>
            <a:ext cx="10570844" cy="66801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10105"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TECHNICAL</a:t>
            </a:r>
            <a:r>
              <a:rPr spc="-425" dirty="0"/>
              <a:t> </a:t>
            </a:r>
            <a:r>
              <a:rPr spc="-10" dirty="0"/>
              <a:t>APPROACH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5EB02D-EF7E-D170-F12B-2585610C501D}"/>
              </a:ext>
            </a:extLst>
          </p:cNvPr>
          <p:cNvGrpSpPr/>
          <p:nvPr/>
        </p:nvGrpSpPr>
        <p:grpSpPr>
          <a:xfrm>
            <a:off x="0" y="0"/>
            <a:ext cx="2743201" cy="706896"/>
            <a:chOff x="228599" y="192025"/>
            <a:chExt cx="2743201" cy="706896"/>
          </a:xfrm>
        </p:grpSpPr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3A720FDC-1380-A86A-F4FF-85134876FF0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599" y="192025"/>
              <a:ext cx="2300762" cy="544672"/>
            </a:xfrm>
            <a:prstGeom prst="rect">
              <a:avLst/>
            </a:prstGeom>
          </p:spPr>
        </p:pic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8C50300B-91BB-2503-6F90-E794879F9D1C}"/>
                </a:ext>
              </a:extLst>
            </p:cNvPr>
            <p:cNvSpPr txBox="1"/>
            <p:nvPr/>
          </p:nvSpPr>
          <p:spPr>
            <a:xfrm>
              <a:off x="252420" y="736697"/>
              <a:ext cx="2719380" cy="16222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Citizen,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Government,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lang="en-US" sz="950" spc="-10" dirty="0">
                  <a:latin typeface="Times New Roman"/>
                  <a:cs typeface="Times New Roman"/>
                </a:rPr>
                <a:t>Platform</a:t>
              </a:r>
              <a:r>
                <a:rPr sz="950" spc="-10" dirty="0">
                  <a:latin typeface="Times New Roman"/>
                  <a:cs typeface="Times New Roman"/>
                </a:rPr>
                <a:t>.</a:t>
              </a:r>
              <a:endParaRPr sz="950" dirty="0">
                <a:latin typeface="Times New Roman"/>
                <a:cs typeface="Times New Roman"/>
              </a:endParaRPr>
            </a:p>
          </p:txBody>
        </p:sp>
      </p:grpSp>
      <p:sp>
        <p:nvSpPr>
          <p:cNvPr id="6" name="object 6"/>
          <p:cNvSpPr/>
          <p:nvPr/>
        </p:nvSpPr>
        <p:spPr>
          <a:xfrm>
            <a:off x="17327088" y="9453450"/>
            <a:ext cx="771525" cy="608330"/>
          </a:xfrm>
          <a:custGeom>
            <a:avLst/>
            <a:gdLst/>
            <a:ahLst/>
            <a:cxnLst/>
            <a:rect l="l" t="t" r="r" b="b"/>
            <a:pathLst>
              <a:path w="771525" h="608329">
                <a:moveTo>
                  <a:pt x="388401" y="607792"/>
                </a:moveTo>
                <a:lnTo>
                  <a:pt x="382555" y="607792"/>
                </a:lnTo>
                <a:lnTo>
                  <a:pt x="343374" y="606144"/>
                </a:lnTo>
                <a:lnTo>
                  <a:pt x="304537" y="601223"/>
                </a:lnTo>
                <a:lnTo>
                  <a:pt x="266250" y="593063"/>
                </a:lnTo>
                <a:lnTo>
                  <a:pt x="228716" y="581700"/>
                </a:lnTo>
                <a:lnTo>
                  <a:pt x="189447" y="566174"/>
                </a:lnTo>
                <a:lnTo>
                  <a:pt x="127233" y="530105"/>
                </a:lnTo>
                <a:lnTo>
                  <a:pt x="94195" y="503692"/>
                </a:lnTo>
                <a:lnTo>
                  <a:pt x="50200" y="455353"/>
                </a:lnTo>
                <a:lnTo>
                  <a:pt x="18679" y="398092"/>
                </a:lnTo>
                <a:lnTo>
                  <a:pt x="1953" y="335179"/>
                </a:lnTo>
                <a:lnTo>
                  <a:pt x="0" y="303640"/>
                </a:lnTo>
                <a:lnTo>
                  <a:pt x="2146" y="271982"/>
                </a:lnTo>
                <a:lnTo>
                  <a:pt x="18267" y="210754"/>
                </a:lnTo>
                <a:lnTo>
                  <a:pt x="49014" y="155405"/>
                </a:lnTo>
                <a:lnTo>
                  <a:pt x="73403" y="125139"/>
                </a:lnTo>
                <a:lnTo>
                  <a:pt x="124303" y="79730"/>
                </a:lnTo>
                <a:lnTo>
                  <a:pt x="158908" y="57934"/>
                </a:lnTo>
                <a:lnTo>
                  <a:pt x="227291" y="26551"/>
                </a:lnTo>
                <a:lnTo>
                  <a:pt x="300102" y="7587"/>
                </a:lnTo>
                <a:lnTo>
                  <a:pt x="345264" y="1679"/>
                </a:lnTo>
                <a:lnTo>
                  <a:pt x="385479" y="0"/>
                </a:lnTo>
                <a:lnTo>
                  <a:pt x="425693" y="1679"/>
                </a:lnTo>
                <a:lnTo>
                  <a:pt x="465697" y="6717"/>
                </a:lnTo>
                <a:lnTo>
                  <a:pt x="507711" y="15480"/>
                </a:lnTo>
                <a:lnTo>
                  <a:pt x="578513" y="40727"/>
                </a:lnTo>
                <a:lnTo>
                  <a:pt x="617833" y="61230"/>
                </a:lnTo>
                <a:lnTo>
                  <a:pt x="673298" y="101096"/>
                </a:lnTo>
                <a:lnTo>
                  <a:pt x="719210" y="151670"/>
                </a:lnTo>
                <a:lnTo>
                  <a:pt x="752690" y="210754"/>
                </a:lnTo>
                <a:lnTo>
                  <a:pt x="768811" y="271982"/>
                </a:lnTo>
                <a:lnTo>
                  <a:pt x="770957" y="303640"/>
                </a:lnTo>
                <a:lnTo>
                  <a:pt x="769004" y="335179"/>
                </a:lnTo>
                <a:lnTo>
                  <a:pt x="752998" y="396316"/>
                </a:lnTo>
                <a:lnTo>
                  <a:pt x="720756" y="455353"/>
                </a:lnTo>
                <a:lnTo>
                  <a:pt x="676762" y="503692"/>
                </a:lnTo>
                <a:lnTo>
                  <a:pt x="643723" y="530105"/>
                </a:lnTo>
                <a:lnTo>
                  <a:pt x="581510" y="566174"/>
                </a:lnTo>
                <a:lnTo>
                  <a:pt x="542241" y="581700"/>
                </a:lnTo>
                <a:lnTo>
                  <a:pt x="504707" y="593063"/>
                </a:lnTo>
                <a:lnTo>
                  <a:pt x="466420" y="601223"/>
                </a:lnTo>
                <a:lnTo>
                  <a:pt x="427583" y="606144"/>
                </a:lnTo>
                <a:lnTo>
                  <a:pt x="388401" y="607792"/>
                </a:lnTo>
                <a:close/>
              </a:path>
            </a:pathLst>
          </a:custGeom>
          <a:solidFill>
            <a:srgbClr val="00616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15" name="object 2">
            <a:extLst>
              <a:ext uri="{FF2B5EF4-FFF2-40B4-BE49-F238E27FC236}">
                <a16:creationId xmlns:a16="http://schemas.microsoft.com/office/drawing/2014/main" id="{AEFC0095-A696-09FA-9ABA-03156FB3D6C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73781" y="111095"/>
            <a:ext cx="1465605" cy="841405"/>
          </a:xfrm>
          <a:prstGeom prst="rect">
            <a:avLst/>
          </a:prstGeom>
        </p:spPr>
      </p:pic>
      <p:sp>
        <p:nvSpPr>
          <p:cNvPr id="4" name="object 23">
            <a:extLst>
              <a:ext uri="{FF2B5EF4-FFF2-40B4-BE49-F238E27FC236}">
                <a16:creationId xmlns:a16="http://schemas.microsoft.com/office/drawing/2014/main" id="{21AC596C-53B6-69CE-CC7E-0F93118B25E3}"/>
              </a:ext>
            </a:extLst>
          </p:cNvPr>
          <p:cNvSpPr txBox="1"/>
          <p:nvPr/>
        </p:nvSpPr>
        <p:spPr>
          <a:xfrm>
            <a:off x="332874" y="8062796"/>
            <a:ext cx="85363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100" spc="-35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cs typeface="Calibri"/>
              </a:rPr>
              <a:t>Demo Video</a:t>
            </a:r>
            <a:r>
              <a:rPr sz="2100" spc="-35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: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lang="en-US"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link 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1381887"/>
            <a:ext cx="8715374" cy="85724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9572624" y="3533775"/>
            <a:ext cx="7667625" cy="76200"/>
          </a:xfrm>
          <a:custGeom>
            <a:avLst/>
            <a:gdLst/>
            <a:ahLst/>
            <a:cxnLst/>
            <a:rect l="l" t="t" r="r" b="b"/>
            <a:pathLst>
              <a:path w="7667625" h="76200">
                <a:moveTo>
                  <a:pt x="7667624" y="76199"/>
                </a:moveTo>
                <a:lnTo>
                  <a:pt x="0" y="76199"/>
                </a:lnTo>
                <a:lnTo>
                  <a:pt x="0" y="0"/>
                </a:lnTo>
                <a:lnTo>
                  <a:pt x="7667624" y="0"/>
                </a:lnTo>
                <a:lnTo>
                  <a:pt x="7667624" y="76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9553449" y="1634603"/>
            <a:ext cx="7941309" cy="341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POTENTIAL</a:t>
            </a:r>
            <a:r>
              <a:rPr sz="230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CHALLENGES</a:t>
            </a:r>
            <a:r>
              <a:rPr sz="2300" b="1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3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RISKS</a:t>
            </a:r>
            <a:endParaRPr sz="2300" dirty="0">
              <a:latin typeface="Times New Roman"/>
              <a:cs typeface="Times New Roman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&amp; Scalability: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Old systems, inconsistent data, high traffic, and failures make integration difficult.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&amp; Adoption: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Departments may hesitate to share data, while citizens need clear consent and control.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Privacy: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encryption, access control, consent management, auditing, and secure data sharing.</a:t>
            </a:r>
          </a:p>
          <a:p>
            <a:pPr lvl="0"/>
            <a:r>
              <a:rPr lang="en-IN" dirty="0"/>
              <a:t>. </a:t>
            </a: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FEASIBILITY</a:t>
            </a:r>
            <a:r>
              <a:rPr spc="-37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VIABILITY</a:t>
            </a:r>
            <a:r>
              <a:rPr spc="-360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76004" y="4769466"/>
            <a:ext cx="8715374" cy="85724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9614917" y="5024629"/>
            <a:ext cx="8143875" cy="3081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STRATEGIES</a:t>
            </a:r>
            <a:r>
              <a:rPr sz="23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3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OVERCOMING</a:t>
            </a:r>
            <a:r>
              <a:rPr sz="23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CHALLENGES</a:t>
            </a:r>
            <a:endParaRPr sz="2300" dirty="0">
              <a:latin typeface="Times New Roman"/>
              <a:cs typeface="Times New Roman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&amp; Data Quality: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adapters, data validation, and identity matching ensure accurate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&amp; Adoption: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consent controls and small pilot programs build trust.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Security, Privacy &amp; Resilience: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Zero-trust security, encryption, audit logs, backups, alerts, and automatic recovery ensure safe and reliable operation.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73584" y="3053181"/>
            <a:ext cx="615553" cy="47428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790"/>
              </a:lnSpc>
            </a:pPr>
            <a:r>
              <a:rPr sz="4300" dirty="0">
                <a:latin typeface="Times New Roman"/>
                <a:cs typeface="Times New Roman"/>
              </a:rPr>
              <a:t>IDEA</a:t>
            </a:r>
            <a:r>
              <a:rPr sz="4300" spc="-265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FEASIBILITY</a:t>
            </a:r>
            <a:endParaRPr sz="4300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7317563" y="9453450"/>
            <a:ext cx="771525" cy="608330"/>
          </a:xfrm>
          <a:custGeom>
            <a:avLst/>
            <a:gdLst/>
            <a:ahLst/>
            <a:cxnLst/>
            <a:rect l="l" t="t" r="r" b="b"/>
            <a:pathLst>
              <a:path w="771525" h="608329">
                <a:moveTo>
                  <a:pt x="388401" y="607792"/>
                </a:moveTo>
                <a:lnTo>
                  <a:pt x="382555" y="607792"/>
                </a:lnTo>
                <a:lnTo>
                  <a:pt x="343374" y="606144"/>
                </a:lnTo>
                <a:lnTo>
                  <a:pt x="304537" y="601223"/>
                </a:lnTo>
                <a:lnTo>
                  <a:pt x="266250" y="593063"/>
                </a:lnTo>
                <a:lnTo>
                  <a:pt x="228716" y="581700"/>
                </a:lnTo>
                <a:lnTo>
                  <a:pt x="189447" y="566174"/>
                </a:lnTo>
                <a:lnTo>
                  <a:pt x="127233" y="530105"/>
                </a:lnTo>
                <a:lnTo>
                  <a:pt x="94195" y="503692"/>
                </a:lnTo>
                <a:lnTo>
                  <a:pt x="50200" y="455353"/>
                </a:lnTo>
                <a:lnTo>
                  <a:pt x="18679" y="398092"/>
                </a:lnTo>
                <a:lnTo>
                  <a:pt x="1953" y="335179"/>
                </a:lnTo>
                <a:lnTo>
                  <a:pt x="0" y="303640"/>
                </a:lnTo>
                <a:lnTo>
                  <a:pt x="2146" y="271982"/>
                </a:lnTo>
                <a:lnTo>
                  <a:pt x="18267" y="210754"/>
                </a:lnTo>
                <a:lnTo>
                  <a:pt x="49014" y="155405"/>
                </a:lnTo>
                <a:lnTo>
                  <a:pt x="73403" y="125139"/>
                </a:lnTo>
                <a:lnTo>
                  <a:pt x="124303" y="79730"/>
                </a:lnTo>
                <a:lnTo>
                  <a:pt x="158908" y="57934"/>
                </a:lnTo>
                <a:lnTo>
                  <a:pt x="227291" y="26551"/>
                </a:lnTo>
                <a:lnTo>
                  <a:pt x="300102" y="7587"/>
                </a:lnTo>
                <a:lnTo>
                  <a:pt x="345264" y="1679"/>
                </a:lnTo>
                <a:lnTo>
                  <a:pt x="385479" y="0"/>
                </a:lnTo>
                <a:lnTo>
                  <a:pt x="425693" y="1679"/>
                </a:lnTo>
                <a:lnTo>
                  <a:pt x="465697" y="6717"/>
                </a:lnTo>
                <a:lnTo>
                  <a:pt x="507711" y="15480"/>
                </a:lnTo>
                <a:lnTo>
                  <a:pt x="578513" y="40727"/>
                </a:lnTo>
                <a:lnTo>
                  <a:pt x="617833" y="61230"/>
                </a:lnTo>
                <a:lnTo>
                  <a:pt x="673298" y="101096"/>
                </a:lnTo>
                <a:lnTo>
                  <a:pt x="719210" y="151670"/>
                </a:lnTo>
                <a:lnTo>
                  <a:pt x="752690" y="210754"/>
                </a:lnTo>
                <a:lnTo>
                  <a:pt x="768811" y="271982"/>
                </a:lnTo>
                <a:lnTo>
                  <a:pt x="770957" y="303640"/>
                </a:lnTo>
                <a:lnTo>
                  <a:pt x="769004" y="335179"/>
                </a:lnTo>
                <a:lnTo>
                  <a:pt x="752998" y="396316"/>
                </a:lnTo>
                <a:lnTo>
                  <a:pt x="720756" y="455353"/>
                </a:lnTo>
                <a:lnTo>
                  <a:pt x="676762" y="503692"/>
                </a:lnTo>
                <a:lnTo>
                  <a:pt x="643723" y="530105"/>
                </a:lnTo>
                <a:lnTo>
                  <a:pt x="581510" y="566174"/>
                </a:lnTo>
                <a:lnTo>
                  <a:pt x="542241" y="581700"/>
                </a:lnTo>
                <a:lnTo>
                  <a:pt x="504707" y="593063"/>
                </a:lnTo>
                <a:lnTo>
                  <a:pt x="466420" y="601223"/>
                </a:lnTo>
                <a:lnTo>
                  <a:pt x="427583" y="606144"/>
                </a:lnTo>
                <a:lnTo>
                  <a:pt x="388401" y="607792"/>
                </a:lnTo>
                <a:close/>
              </a:path>
            </a:pathLst>
          </a:custGeom>
          <a:solidFill>
            <a:srgbClr val="00616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60CB1DF-2A6F-7B8D-E589-12C0AD36382C}"/>
              </a:ext>
            </a:extLst>
          </p:cNvPr>
          <p:cNvSpPr/>
          <p:nvPr/>
        </p:nvSpPr>
        <p:spPr>
          <a:xfrm>
            <a:off x="9299448" y="1810512"/>
            <a:ext cx="0" cy="7722108"/>
          </a:xfrm>
          <a:prstGeom prst="line">
            <a:avLst/>
          </a:prstGeom>
          <a:noFill/>
          <a:ln w="15875">
            <a:solidFill>
              <a:srgbClr val="DADF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0EE7DEA-9BC3-C46D-E87C-201201E6BF75}"/>
              </a:ext>
            </a:extLst>
          </p:cNvPr>
          <p:cNvSpPr/>
          <p:nvPr/>
        </p:nvSpPr>
        <p:spPr>
          <a:xfrm>
            <a:off x="1371600" y="2002536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E7EAE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9415715-9760-BDC1-AFB1-2BABCF81E031}"/>
              </a:ext>
            </a:extLst>
          </p:cNvPr>
          <p:cNvSpPr txBox="1"/>
          <p:nvPr/>
        </p:nvSpPr>
        <p:spPr>
          <a:xfrm>
            <a:off x="1563624" y="2112264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Replacement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SOAP or database systems require full replacement to integrate.</a:t>
            </a:r>
            <a:endParaRPr lang="en-US" sz="165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4E4735A0-F31E-22A1-F577-E5362A06C650}"/>
              </a:ext>
            </a:extLst>
          </p:cNvPr>
          <p:cNvSpPr/>
          <p:nvPr/>
        </p:nvSpPr>
        <p:spPr>
          <a:xfrm>
            <a:off x="5664708" y="2002536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D7EDE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A3235300-2D6C-09F4-E6E7-0A9DBC8C4398}"/>
              </a:ext>
            </a:extLst>
          </p:cNvPr>
          <p:cNvSpPr txBox="1"/>
          <p:nvPr/>
        </p:nvSpPr>
        <p:spPr>
          <a:xfrm>
            <a:off x="5856732" y="2112264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Layer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API gateways and adapters wrap existing systems to lower rebuild costs.</a:t>
            </a:r>
            <a:endParaRPr lang="en-US" sz="165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1D4E9E8F-55FA-DF53-7ABD-517C33514770}"/>
              </a:ext>
            </a:extLst>
          </p:cNvPr>
          <p:cNvSpPr/>
          <p:nvPr/>
        </p:nvSpPr>
        <p:spPr>
          <a:xfrm>
            <a:off x="4800600" y="2582723"/>
            <a:ext cx="7543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388FCD7E-5910-140A-AE15-61D568FD1C28}"/>
              </a:ext>
            </a:extLst>
          </p:cNvPr>
          <p:cNvSpPr/>
          <p:nvPr/>
        </p:nvSpPr>
        <p:spPr>
          <a:xfrm>
            <a:off x="1371600" y="3546957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E7EAE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95B68E2D-66C8-EFF4-A37C-D069A047302B}"/>
              </a:ext>
            </a:extLst>
          </p:cNvPr>
          <p:cNvSpPr txBox="1"/>
          <p:nvPr/>
        </p:nvSpPr>
        <p:spPr>
          <a:xfrm>
            <a:off x="1563624" y="3656685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Fragmentation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maintain disparate database schemas causing data silos.</a:t>
            </a:r>
            <a:endParaRPr lang="en-US" sz="165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2F632F0E-D739-B44A-7017-84AC78FD89DC}"/>
              </a:ext>
            </a:extLst>
          </p:cNvPr>
          <p:cNvSpPr/>
          <p:nvPr/>
        </p:nvSpPr>
        <p:spPr>
          <a:xfrm>
            <a:off x="5664708" y="3546957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D7EDE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0441B7A0-68A4-2A9E-0D20-2106C2DFDEA7}"/>
              </a:ext>
            </a:extLst>
          </p:cNvPr>
          <p:cNvSpPr txBox="1"/>
          <p:nvPr/>
        </p:nvSpPr>
        <p:spPr>
          <a:xfrm>
            <a:off x="5856732" y="3656685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Mapping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fields map to a canonical schema without forcing database changes.</a:t>
            </a:r>
            <a:endParaRPr lang="en-US" sz="1650" dirty="0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4CA4FC86-C310-4885-C0D9-63A4CC40537A}"/>
              </a:ext>
            </a:extLst>
          </p:cNvPr>
          <p:cNvSpPr/>
          <p:nvPr/>
        </p:nvSpPr>
        <p:spPr>
          <a:xfrm>
            <a:off x="4800600" y="4127145"/>
            <a:ext cx="7543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982AC02D-C909-BD81-EECF-BC78B218836A}"/>
              </a:ext>
            </a:extLst>
          </p:cNvPr>
          <p:cNvSpPr/>
          <p:nvPr/>
        </p:nvSpPr>
        <p:spPr>
          <a:xfrm>
            <a:off x="1371600" y="5091380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E7EAE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4A142BDF-D486-CCB8-0FBF-C37761E20D32}"/>
              </a:ext>
            </a:extLst>
          </p:cNvPr>
          <p:cNvSpPr txBox="1"/>
          <p:nvPr/>
        </p:nvSpPr>
        <p:spPr>
          <a:xfrm>
            <a:off x="1563624" y="5201108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Bolted-on Security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privacy controls are added as secondary features.</a:t>
            </a:r>
            <a:endParaRPr lang="en-US" sz="165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B96EB971-A921-847B-1B16-056DB310DC0E}"/>
              </a:ext>
            </a:extLst>
          </p:cNvPr>
          <p:cNvSpPr/>
          <p:nvPr/>
        </p:nvSpPr>
        <p:spPr>
          <a:xfrm>
            <a:off x="5664708" y="5091380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D7EDE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4243D397-A5B2-1736-6063-47F228B3EAB4}"/>
              </a:ext>
            </a:extLst>
          </p:cNvPr>
          <p:cNvSpPr txBox="1"/>
          <p:nvPr/>
        </p:nvSpPr>
        <p:spPr>
          <a:xfrm>
            <a:off x="5856732" y="5201108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Consent-Based Access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blocked by design without a valid consent token.</a:t>
            </a:r>
            <a:endParaRPr lang="en-US" sz="1650" dirty="0"/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9E7B1C7C-0DD6-0783-767C-B4F8BA9EAD9A}"/>
              </a:ext>
            </a:extLst>
          </p:cNvPr>
          <p:cNvSpPr/>
          <p:nvPr/>
        </p:nvSpPr>
        <p:spPr>
          <a:xfrm>
            <a:off x="4800600" y="5671566"/>
            <a:ext cx="7543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Shape 19">
            <a:extLst>
              <a:ext uri="{FF2B5EF4-FFF2-40B4-BE49-F238E27FC236}">
                <a16:creationId xmlns:a16="http://schemas.microsoft.com/office/drawing/2014/main" id="{256C983D-9106-B9E8-36B0-FF611540D135}"/>
              </a:ext>
            </a:extLst>
          </p:cNvPr>
          <p:cNvSpPr/>
          <p:nvPr/>
        </p:nvSpPr>
        <p:spPr>
          <a:xfrm>
            <a:off x="1371600" y="6635801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E7EAE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C391421F-E081-363B-AD1B-1D86F96144C1}"/>
              </a:ext>
            </a:extLst>
          </p:cNvPr>
          <p:cNvSpPr txBox="1"/>
          <p:nvPr/>
        </p:nvSpPr>
        <p:spPr>
          <a:xfrm>
            <a:off x="1563624" y="6745529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Friction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face significant pressure to change internal systems.</a:t>
            </a:r>
            <a:endParaRPr lang="en-US" sz="1650" dirty="0"/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2F929815-60BC-6256-382D-081426A51550}"/>
              </a:ext>
            </a:extLst>
          </p:cNvPr>
          <p:cNvSpPr/>
          <p:nvPr/>
        </p:nvSpPr>
        <p:spPr>
          <a:xfrm>
            <a:off x="5664708" y="6635801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D7EDE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4FD516FA-D6AB-9173-9D1A-FAD238702DA0}"/>
              </a:ext>
            </a:extLst>
          </p:cNvPr>
          <p:cNvSpPr txBox="1"/>
          <p:nvPr/>
        </p:nvSpPr>
        <p:spPr>
          <a:xfrm>
            <a:off x="5856732" y="6745529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retain system ownership by adding thin connectors.</a:t>
            </a:r>
            <a:endParaRPr lang="en-US" sz="1650" dirty="0"/>
          </a:p>
        </p:txBody>
      </p:sp>
      <p:sp>
        <p:nvSpPr>
          <p:cNvPr id="60" name="Shape 23">
            <a:extLst>
              <a:ext uri="{FF2B5EF4-FFF2-40B4-BE49-F238E27FC236}">
                <a16:creationId xmlns:a16="http://schemas.microsoft.com/office/drawing/2014/main" id="{CE8D140A-F4CF-60D0-A8C7-6FBDD8B460F4}"/>
              </a:ext>
            </a:extLst>
          </p:cNvPr>
          <p:cNvSpPr/>
          <p:nvPr/>
        </p:nvSpPr>
        <p:spPr>
          <a:xfrm>
            <a:off x="4800600" y="7215987"/>
            <a:ext cx="7543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5EBD1FCC-9C8C-5FD2-3250-4C31B053CD52}"/>
              </a:ext>
            </a:extLst>
          </p:cNvPr>
          <p:cNvSpPr/>
          <p:nvPr/>
        </p:nvSpPr>
        <p:spPr>
          <a:xfrm>
            <a:off x="1371600" y="8180223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E7EAE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0777AA28-3464-F33C-22F8-32B55991F28C}"/>
              </a:ext>
            </a:extLst>
          </p:cNvPr>
          <p:cNvSpPr txBox="1"/>
          <p:nvPr/>
        </p:nvSpPr>
        <p:spPr>
          <a:xfrm>
            <a:off x="1563624" y="8289951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Big-Bang Integration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Large-scale, simultaneous system integration is required.</a:t>
            </a:r>
            <a:endParaRPr lang="en-US" sz="1650" dirty="0"/>
          </a:p>
        </p:txBody>
      </p:sp>
      <p:sp>
        <p:nvSpPr>
          <p:cNvPr id="66" name="Shape 26">
            <a:extLst>
              <a:ext uri="{FF2B5EF4-FFF2-40B4-BE49-F238E27FC236}">
                <a16:creationId xmlns:a16="http://schemas.microsoft.com/office/drawing/2014/main" id="{2BB0CC19-B635-C2B1-78E4-4D49EBCD8C5D}"/>
              </a:ext>
            </a:extLst>
          </p:cNvPr>
          <p:cNvSpPr/>
          <p:nvPr/>
        </p:nvSpPr>
        <p:spPr>
          <a:xfrm>
            <a:off x="5664708" y="8180223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D7EDE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8" name="Text 27">
            <a:extLst>
              <a:ext uri="{FF2B5EF4-FFF2-40B4-BE49-F238E27FC236}">
                <a16:creationId xmlns:a16="http://schemas.microsoft.com/office/drawing/2014/main" id="{1F25BACD-ABFD-72CC-6CD9-901C3434E5C7}"/>
              </a:ext>
            </a:extLst>
          </p:cNvPr>
          <p:cNvSpPr txBox="1"/>
          <p:nvPr/>
        </p:nvSpPr>
        <p:spPr>
          <a:xfrm>
            <a:off x="5856732" y="8289951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Pilot-First Approach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 allows for incremental, department-by-department deployment.</a:t>
            </a:r>
            <a:endParaRPr lang="en-US" sz="1650" dirty="0"/>
          </a:p>
        </p:txBody>
      </p:sp>
      <p:sp>
        <p:nvSpPr>
          <p:cNvPr id="70" name="Shape 28">
            <a:extLst>
              <a:ext uri="{FF2B5EF4-FFF2-40B4-BE49-F238E27FC236}">
                <a16:creationId xmlns:a16="http://schemas.microsoft.com/office/drawing/2014/main" id="{F50DEC6B-B8E2-3377-3098-359DA662B8B7}"/>
              </a:ext>
            </a:extLst>
          </p:cNvPr>
          <p:cNvSpPr/>
          <p:nvPr/>
        </p:nvSpPr>
        <p:spPr>
          <a:xfrm>
            <a:off x="4800600" y="8760410"/>
            <a:ext cx="7543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E3D8DF-A957-15C9-C714-A75669685D3D}"/>
              </a:ext>
            </a:extLst>
          </p:cNvPr>
          <p:cNvGrpSpPr/>
          <p:nvPr/>
        </p:nvGrpSpPr>
        <p:grpSpPr>
          <a:xfrm>
            <a:off x="0" y="0"/>
            <a:ext cx="2743201" cy="706896"/>
            <a:chOff x="228599" y="192025"/>
            <a:chExt cx="2743201" cy="706896"/>
          </a:xfrm>
        </p:grpSpPr>
        <p:pic>
          <p:nvPicPr>
            <p:cNvPr id="3" name="object 10">
              <a:extLst>
                <a:ext uri="{FF2B5EF4-FFF2-40B4-BE49-F238E27FC236}">
                  <a16:creationId xmlns:a16="http://schemas.microsoft.com/office/drawing/2014/main" id="{DC728036-05AE-FFF4-2751-4EFED2F4574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599" y="192025"/>
              <a:ext cx="2300762" cy="544672"/>
            </a:xfrm>
            <a:prstGeom prst="rect">
              <a:avLst/>
            </a:prstGeom>
          </p:spPr>
        </p:pic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629FE43D-EF14-2C26-898F-F898E5344FC3}"/>
                </a:ext>
              </a:extLst>
            </p:cNvPr>
            <p:cNvSpPr txBox="1"/>
            <p:nvPr/>
          </p:nvSpPr>
          <p:spPr>
            <a:xfrm>
              <a:off x="252420" y="736697"/>
              <a:ext cx="2719380" cy="16222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Citizen,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Government,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lang="en-US" sz="950" spc="-10" dirty="0">
                  <a:latin typeface="Times New Roman"/>
                  <a:cs typeface="Times New Roman"/>
                </a:rPr>
                <a:t>Platform</a:t>
              </a:r>
              <a:r>
                <a:rPr sz="950" spc="-10" dirty="0">
                  <a:latin typeface="Times New Roman"/>
                  <a:cs typeface="Times New Roman"/>
                </a:rPr>
                <a:t>.</a:t>
              </a:r>
              <a:endParaRPr sz="950" dirty="0">
                <a:latin typeface="Times New Roman"/>
                <a:cs typeface="Times New Roman"/>
              </a:endParaRPr>
            </a:p>
          </p:txBody>
        </p:sp>
      </p:grpSp>
      <p:pic>
        <p:nvPicPr>
          <p:cNvPr id="6" name="object 2">
            <a:extLst>
              <a:ext uri="{FF2B5EF4-FFF2-40B4-BE49-F238E27FC236}">
                <a16:creationId xmlns:a16="http://schemas.microsoft.com/office/drawing/2014/main" id="{08BE8251-2592-D486-2904-DA9107DAD98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73781" y="111095"/>
            <a:ext cx="1465605" cy="841405"/>
          </a:xfrm>
          <a:prstGeom prst="rect">
            <a:avLst/>
          </a:prstGeom>
        </p:spPr>
      </p:pic>
      <p:pic>
        <p:nvPicPr>
          <p:cNvPr id="5" name="object 19">
            <a:extLst>
              <a:ext uri="{FF2B5EF4-FFF2-40B4-BE49-F238E27FC236}">
                <a16:creationId xmlns:a16="http://schemas.microsoft.com/office/drawing/2014/main" id="{D215E2B4-F682-914A-5DA7-2D55DF5BEFD9}"/>
              </a:ext>
            </a:extLst>
          </p:cNvPr>
          <p:cNvPicPr/>
          <p:nvPr/>
        </p:nvPicPr>
        <p:blipFill>
          <a:blip r:embed="rId3" cstate="print">
            <a:duotone>
              <a:prstClr val="black"/>
              <a:schemeClr val="tx2">
                <a:lumMod val="60000"/>
                <a:lumOff val="4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76004" y="8121520"/>
            <a:ext cx="8715374" cy="857249"/>
          </a:xfrm>
          <a:prstGeom prst="rect">
            <a:avLst/>
          </a:prstGeom>
        </p:spPr>
      </p:pic>
      <p:sp>
        <p:nvSpPr>
          <p:cNvPr id="7" name="object 24">
            <a:extLst>
              <a:ext uri="{FF2B5EF4-FFF2-40B4-BE49-F238E27FC236}">
                <a16:creationId xmlns:a16="http://schemas.microsoft.com/office/drawing/2014/main" id="{63BCE9BB-8BD1-F87A-46D1-3CA0DFB3DE2A}"/>
              </a:ext>
            </a:extLst>
          </p:cNvPr>
          <p:cNvSpPr txBox="1"/>
          <p:nvPr/>
        </p:nvSpPr>
        <p:spPr>
          <a:xfrm>
            <a:off x="9614916" y="8289951"/>
            <a:ext cx="8143875" cy="1340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DEPENDENCIES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 Locker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Citizen details and Digital document verification.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Platform access and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91385">
              <a:lnSpc>
                <a:spcPct val="100000"/>
              </a:lnSpc>
              <a:spcBef>
                <a:spcPts val="114"/>
              </a:spcBef>
            </a:pPr>
            <a:r>
              <a:rPr spc="-65" dirty="0"/>
              <a:t>IMPACT</a:t>
            </a:r>
            <a:r>
              <a:rPr spc="-30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spc="-10" dirty="0"/>
              <a:t>BENEFITS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5739021" y="1206654"/>
            <a:ext cx="2361031" cy="8877299"/>
            <a:chOff x="15394596" y="1206633"/>
            <a:chExt cx="2447177" cy="887729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94596" y="1206633"/>
              <a:ext cx="2390774" cy="88772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070248" y="9465746"/>
              <a:ext cx="771525" cy="608330"/>
            </a:xfrm>
            <a:custGeom>
              <a:avLst/>
              <a:gdLst/>
              <a:ahLst/>
              <a:cxnLst/>
              <a:rect l="l" t="t" r="r" b="b"/>
              <a:pathLst>
                <a:path w="771525" h="608329">
                  <a:moveTo>
                    <a:pt x="388401" y="607792"/>
                  </a:moveTo>
                  <a:lnTo>
                    <a:pt x="382555" y="607792"/>
                  </a:lnTo>
                  <a:lnTo>
                    <a:pt x="343374" y="606144"/>
                  </a:lnTo>
                  <a:lnTo>
                    <a:pt x="304537" y="601223"/>
                  </a:lnTo>
                  <a:lnTo>
                    <a:pt x="266250" y="593063"/>
                  </a:lnTo>
                  <a:lnTo>
                    <a:pt x="228716" y="581700"/>
                  </a:lnTo>
                  <a:lnTo>
                    <a:pt x="189447" y="566174"/>
                  </a:lnTo>
                  <a:lnTo>
                    <a:pt x="127233" y="530105"/>
                  </a:lnTo>
                  <a:lnTo>
                    <a:pt x="94195" y="503692"/>
                  </a:lnTo>
                  <a:lnTo>
                    <a:pt x="50200" y="455353"/>
                  </a:lnTo>
                  <a:lnTo>
                    <a:pt x="18679" y="398092"/>
                  </a:lnTo>
                  <a:lnTo>
                    <a:pt x="1953" y="335179"/>
                  </a:lnTo>
                  <a:lnTo>
                    <a:pt x="0" y="303640"/>
                  </a:lnTo>
                  <a:lnTo>
                    <a:pt x="2146" y="271982"/>
                  </a:lnTo>
                  <a:lnTo>
                    <a:pt x="18267" y="210754"/>
                  </a:lnTo>
                  <a:lnTo>
                    <a:pt x="49014" y="155405"/>
                  </a:lnTo>
                  <a:lnTo>
                    <a:pt x="73403" y="125139"/>
                  </a:lnTo>
                  <a:lnTo>
                    <a:pt x="124303" y="79730"/>
                  </a:lnTo>
                  <a:lnTo>
                    <a:pt x="158908" y="57934"/>
                  </a:lnTo>
                  <a:lnTo>
                    <a:pt x="227291" y="26551"/>
                  </a:lnTo>
                  <a:lnTo>
                    <a:pt x="300102" y="7587"/>
                  </a:lnTo>
                  <a:lnTo>
                    <a:pt x="345264" y="1679"/>
                  </a:lnTo>
                  <a:lnTo>
                    <a:pt x="385479" y="0"/>
                  </a:lnTo>
                  <a:lnTo>
                    <a:pt x="425693" y="1679"/>
                  </a:lnTo>
                  <a:lnTo>
                    <a:pt x="465697" y="6717"/>
                  </a:lnTo>
                  <a:lnTo>
                    <a:pt x="507711" y="15480"/>
                  </a:lnTo>
                  <a:lnTo>
                    <a:pt x="578513" y="40727"/>
                  </a:lnTo>
                  <a:lnTo>
                    <a:pt x="617833" y="61230"/>
                  </a:lnTo>
                  <a:lnTo>
                    <a:pt x="673298" y="101096"/>
                  </a:lnTo>
                  <a:lnTo>
                    <a:pt x="719210" y="151670"/>
                  </a:lnTo>
                  <a:lnTo>
                    <a:pt x="752690" y="210754"/>
                  </a:lnTo>
                  <a:lnTo>
                    <a:pt x="768811" y="271982"/>
                  </a:lnTo>
                  <a:lnTo>
                    <a:pt x="770957" y="303640"/>
                  </a:lnTo>
                  <a:lnTo>
                    <a:pt x="769004" y="335179"/>
                  </a:lnTo>
                  <a:lnTo>
                    <a:pt x="752998" y="396316"/>
                  </a:lnTo>
                  <a:lnTo>
                    <a:pt x="720756" y="455353"/>
                  </a:lnTo>
                  <a:lnTo>
                    <a:pt x="676762" y="503692"/>
                  </a:lnTo>
                  <a:lnTo>
                    <a:pt x="643723" y="530105"/>
                  </a:lnTo>
                  <a:lnTo>
                    <a:pt x="581510" y="566174"/>
                  </a:lnTo>
                  <a:lnTo>
                    <a:pt x="542241" y="581700"/>
                  </a:lnTo>
                  <a:lnTo>
                    <a:pt x="504707" y="593063"/>
                  </a:lnTo>
                  <a:lnTo>
                    <a:pt x="466420" y="601223"/>
                  </a:lnTo>
                  <a:lnTo>
                    <a:pt x="427583" y="606144"/>
                  </a:lnTo>
                  <a:lnTo>
                    <a:pt x="388401" y="607792"/>
                  </a:lnTo>
                  <a:close/>
                </a:path>
              </a:pathLst>
            </a:custGeom>
            <a:solidFill>
              <a:srgbClr val="00616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78AEBD-BD11-05AA-C4B4-48C1D5AB7800}"/>
              </a:ext>
            </a:extLst>
          </p:cNvPr>
          <p:cNvSpPr txBox="1"/>
          <p:nvPr/>
        </p:nvSpPr>
        <p:spPr>
          <a:xfrm>
            <a:off x="609600" y="1541647"/>
            <a:ext cx="96774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9055" algn="just">
              <a:lnSpc>
                <a:spcPct val="100000"/>
              </a:lnSpc>
              <a:spcBef>
                <a:spcPts val="100"/>
              </a:spcBef>
            </a:pPr>
            <a:r>
              <a:rPr lang="en-IN" sz="2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BENEFITS</a:t>
            </a:r>
            <a:endParaRPr lang="en-IN" sz="2300" dirty="0">
              <a:latin typeface="Times New Roman"/>
              <a:cs typeface="Times New Roman"/>
            </a:endParaRPr>
          </a:p>
        </p:txBody>
      </p:sp>
      <p:pic>
        <p:nvPicPr>
          <p:cNvPr id="19" name="object 19">
            <a:extLst>
              <a:ext uri="{FF2B5EF4-FFF2-40B4-BE49-F238E27FC236}">
                <a16:creationId xmlns:a16="http://schemas.microsoft.com/office/drawing/2014/main" id="{727C1A15-2256-2AA7-8B80-D1F8502EA17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6178" y="1234057"/>
            <a:ext cx="4883221" cy="83630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90BA832-648F-5358-1AC2-506AFF11127D}"/>
              </a:ext>
            </a:extLst>
          </p:cNvPr>
          <p:cNvSpPr txBox="1"/>
          <p:nvPr/>
        </p:nvSpPr>
        <p:spPr>
          <a:xfrm>
            <a:off x="6941026" y="1386432"/>
            <a:ext cx="914400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  <a:endParaRPr lang="en-IN" sz="2350" dirty="0">
              <a:latin typeface="Times New Roman"/>
              <a:cs typeface="Times New Roman"/>
            </a:endParaRPr>
          </a:p>
        </p:txBody>
      </p:sp>
      <p:pic>
        <p:nvPicPr>
          <p:cNvPr id="23" name="object 19">
            <a:extLst>
              <a:ext uri="{FF2B5EF4-FFF2-40B4-BE49-F238E27FC236}">
                <a16:creationId xmlns:a16="http://schemas.microsoft.com/office/drawing/2014/main" id="{9B13BB45-CD5A-690A-BD4C-337968B63064}"/>
              </a:ext>
            </a:extLst>
          </p:cNvPr>
          <p:cNvPicPr/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42653" y="1234056"/>
            <a:ext cx="5030918" cy="83630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243E40C-40E3-7DDC-4C6D-0B773D20C4C5}"/>
              </a:ext>
            </a:extLst>
          </p:cNvPr>
          <p:cNvSpPr txBox="1"/>
          <p:nvPr/>
        </p:nvSpPr>
        <p:spPr>
          <a:xfrm>
            <a:off x="7079809" y="1411786"/>
            <a:ext cx="278538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2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BENEFITS</a:t>
            </a:r>
            <a:endParaRPr lang="en-IN" sz="2350" dirty="0">
              <a:latin typeface="Times New Roman"/>
              <a:cs typeface="Times New Roman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87FFC5-078F-F462-2BC3-38BCE1C514F3}"/>
              </a:ext>
            </a:extLst>
          </p:cNvPr>
          <p:cNvSpPr txBox="1"/>
          <p:nvPr/>
        </p:nvSpPr>
        <p:spPr>
          <a:xfrm>
            <a:off x="-3085722" y="1274963"/>
            <a:ext cx="6980267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14DC22-3D72-533C-27CC-8B9E06371ED5}"/>
              </a:ext>
            </a:extLst>
          </p:cNvPr>
          <p:cNvSpPr txBox="1"/>
          <p:nvPr/>
        </p:nvSpPr>
        <p:spPr>
          <a:xfrm>
            <a:off x="1507368" y="1397968"/>
            <a:ext cx="3666798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2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  <a:endParaRPr lang="en-IN" sz="2350" dirty="0">
              <a:latin typeface="Times New Roman"/>
              <a:cs typeface="Times New Roman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8B0F79-EE24-2E05-C851-9061E322ED95}"/>
              </a:ext>
            </a:extLst>
          </p:cNvPr>
          <p:cNvSpPr txBox="1"/>
          <p:nvPr/>
        </p:nvSpPr>
        <p:spPr>
          <a:xfrm>
            <a:off x="1511379" y="2019300"/>
            <a:ext cx="32892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[SDG 10]</a:t>
            </a:r>
            <a:endParaRPr lang="en-IN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29E668-4F1B-9169-FC1B-2CAA6F7E1C50}"/>
              </a:ext>
            </a:extLst>
          </p:cNvPr>
          <p:cNvSpPr txBox="1"/>
          <p:nvPr/>
        </p:nvSpPr>
        <p:spPr>
          <a:xfrm>
            <a:off x="1472494" y="2358000"/>
            <a:ext cx="4270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Greater transparency, trust and accessibility.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714A53-71AF-4B33-AD60-B80009304674}"/>
              </a:ext>
            </a:extLst>
          </p:cNvPr>
          <p:cNvSpPr txBox="1"/>
          <p:nvPr/>
        </p:nvSpPr>
        <p:spPr>
          <a:xfrm>
            <a:off x="1545515" y="291648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[SDG 8]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AE0569-FA16-9F85-C676-B65F8060F8E7}"/>
              </a:ext>
            </a:extLst>
          </p:cNvPr>
          <p:cNvSpPr txBox="1"/>
          <p:nvPr/>
        </p:nvSpPr>
        <p:spPr>
          <a:xfrm>
            <a:off x="1507368" y="323763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processing costs and delays.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99CD94-93D4-BFA6-ED14-94CCE993677D}"/>
              </a:ext>
            </a:extLst>
          </p:cNvPr>
          <p:cNvSpPr txBox="1"/>
          <p:nvPr/>
        </p:nvSpPr>
        <p:spPr>
          <a:xfrm>
            <a:off x="1464888" y="3797821"/>
            <a:ext cx="10411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Governance</a:t>
            </a:r>
            <a:endParaRPr lang="en-IN" sz="2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6D27BE-58F6-5FA1-04F8-DB687E772801}"/>
              </a:ext>
            </a:extLst>
          </p:cNvPr>
          <p:cNvSpPr txBox="1"/>
          <p:nvPr/>
        </p:nvSpPr>
        <p:spPr>
          <a:xfrm>
            <a:off x="1488951" y="4087195"/>
            <a:ext cx="10411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coordination and accountability. 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2BB1F7-FF5F-F02A-901F-69DF99DEEB84}"/>
              </a:ext>
            </a:extLst>
          </p:cNvPr>
          <p:cNvSpPr txBox="1"/>
          <p:nvPr/>
        </p:nvSpPr>
        <p:spPr>
          <a:xfrm>
            <a:off x="1500394" y="4623875"/>
            <a:ext cx="21211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endParaRPr lang="en-IN" sz="2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A20CA8-EEC2-6DCC-1828-3B617A8BB0A2}"/>
              </a:ext>
            </a:extLst>
          </p:cNvPr>
          <p:cNvSpPr txBox="1"/>
          <p:nvPr/>
        </p:nvSpPr>
        <p:spPr>
          <a:xfrm>
            <a:off x="1490632" y="4999616"/>
            <a:ext cx="4270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eaLnBrk="0" fontAlgn="base" hangingPunct="0"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paper and travel. 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0B3EB76-BFE3-AAA4-EE74-09F3CEF0FB51}"/>
              </a:ext>
            </a:extLst>
          </p:cNvPr>
          <p:cNvGrpSpPr/>
          <p:nvPr/>
        </p:nvGrpSpPr>
        <p:grpSpPr>
          <a:xfrm>
            <a:off x="791905" y="2019300"/>
            <a:ext cx="665458" cy="4972101"/>
            <a:chOff x="825174" y="2205355"/>
            <a:chExt cx="628178" cy="494950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89FCF04-7535-54F3-53A4-FBA5A460988A}"/>
                </a:ext>
              </a:extLst>
            </p:cNvPr>
            <p:cNvGrpSpPr/>
            <p:nvPr/>
          </p:nvGrpSpPr>
          <p:grpSpPr>
            <a:xfrm>
              <a:off x="836159" y="2205355"/>
              <a:ext cx="617193" cy="2344926"/>
              <a:chOff x="836159" y="2205355"/>
              <a:chExt cx="617193" cy="234492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9202A31-902F-9602-BBA8-6D97010A728E}"/>
                  </a:ext>
                </a:extLst>
              </p:cNvPr>
              <p:cNvSpPr/>
              <p:nvPr/>
            </p:nvSpPr>
            <p:spPr>
              <a:xfrm>
                <a:off x="856213" y="3020689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96ACF30-9734-B801-E2E6-D82563E6856C}"/>
                  </a:ext>
                </a:extLst>
              </p:cNvPr>
              <p:cNvSpPr/>
              <p:nvPr/>
            </p:nvSpPr>
            <p:spPr>
              <a:xfrm>
                <a:off x="845228" y="2205355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1C2055F-FA81-213A-5B8C-A106BA2CAB0F}"/>
                  </a:ext>
                </a:extLst>
              </p:cNvPr>
              <p:cNvSpPr/>
              <p:nvPr/>
            </p:nvSpPr>
            <p:spPr>
              <a:xfrm>
                <a:off x="836159" y="3938937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BC4BA34-C8DD-D502-4F75-734EBD2C61A8}"/>
                  </a:ext>
                </a:extLst>
              </p:cNvPr>
              <p:cNvGrpSpPr/>
              <p:nvPr/>
            </p:nvGrpSpPr>
            <p:grpSpPr>
              <a:xfrm>
                <a:off x="960484" y="2294710"/>
                <a:ext cx="380079" cy="2109701"/>
                <a:chOff x="960484" y="2294710"/>
                <a:chExt cx="380079" cy="2109701"/>
              </a:xfrm>
            </p:grpSpPr>
            <p:pic>
              <p:nvPicPr>
                <p:cNvPr id="27" name="Image 12" descr="preencoded.png">
                  <a:extLst>
                    <a:ext uri="{FF2B5EF4-FFF2-40B4-BE49-F238E27FC236}">
                      <a16:creationId xmlns:a16="http://schemas.microsoft.com/office/drawing/2014/main" id="{CAE08AB5-CBB6-D31E-C992-71663D5B1B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0484" y="2294710"/>
                  <a:ext cx="380079" cy="380079"/>
                </a:xfrm>
                <a:prstGeom prst="rect">
                  <a:avLst/>
                </a:prstGeom>
              </p:spPr>
            </p:pic>
            <p:pic>
              <p:nvPicPr>
                <p:cNvPr id="33" name="Image 13" descr="preencoded.png">
                  <a:extLst>
                    <a:ext uri="{FF2B5EF4-FFF2-40B4-BE49-F238E27FC236}">
                      <a16:creationId xmlns:a16="http://schemas.microsoft.com/office/drawing/2014/main" id="{7E980EC1-45E2-4EF0-8F1D-0B01601F6C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91795" y="3161256"/>
                  <a:ext cx="317456" cy="317456"/>
                </a:xfrm>
                <a:prstGeom prst="rect">
                  <a:avLst/>
                </a:prstGeom>
              </p:spPr>
            </p:pic>
            <p:pic>
              <p:nvPicPr>
                <p:cNvPr id="50" name="Image 14" descr="preencoded.png">
                  <a:extLst>
                    <a:ext uri="{FF2B5EF4-FFF2-40B4-BE49-F238E27FC236}">
                      <a16:creationId xmlns:a16="http://schemas.microsoft.com/office/drawing/2014/main" id="{19D17FEE-69CB-1F88-7C9D-9F990D9D1B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6024" y="4080327"/>
                  <a:ext cx="324084" cy="32408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179B4B6-BF23-6E67-7625-F79F29A95C36}"/>
                </a:ext>
              </a:extLst>
            </p:cNvPr>
            <p:cNvGrpSpPr/>
            <p:nvPr/>
          </p:nvGrpSpPr>
          <p:grpSpPr>
            <a:xfrm>
              <a:off x="825174" y="4809930"/>
              <a:ext cx="617193" cy="2344926"/>
              <a:chOff x="836159" y="2205355"/>
              <a:chExt cx="617193" cy="2344926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9C53E39-1C25-5232-0795-C22F536804C6}"/>
                  </a:ext>
                </a:extLst>
              </p:cNvPr>
              <p:cNvSpPr/>
              <p:nvPr/>
            </p:nvSpPr>
            <p:spPr>
              <a:xfrm>
                <a:off x="856213" y="3020689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BF51FEE-EA88-5FC4-EBE4-FF5E147CBFDC}"/>
                  </a:ext>
                </a:extLst>
              </p:cNvPr>
              <p:cNvSpPr/>
              <p:nvPr/>
            </p:nvSpPr>
            <p:spPr>
              <a:xfrm>
                <a:off x="845228" y="2205355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CEA96D8-33B1-DD84-8F26-5441272193C8}"/>
                  </a:ext>
                </a:extLst>
              </p:cNvPr>
              <p:cNvSpPr/>
              <p:nvPr/>
            </p:nvSpPr>
            <p:spPr>
              <a:xfrm>
                <a:off x="836159" y="3938937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pic>
        <p:nvPicPr>
          <p:cNvPr id="68" name="Image 15" descr="preencoded.png">
            <a:extLst>
              <a:ext uri="{FF2B5EF4-FFF2-40B4-BE49-F238E27FC236}">
                <a16:creationId xmlns:a16="http://schemas.microsoft.com/office/drawing/2014/main" id="{975CBA31-687A-09DA-EC85-0BB1296ADD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245" y="4855715"/>
            <a:ext cx="341686" cy="341686"/>
          </a:xfrm>
          <a:prstGeom prst="rect">
            <a:avLst/>
          </a:prstGeom>
        </p:spPr>
      </p:pic>
      <p:pic>
        <p:nvPicPr>
          <p:cNvPr id="69" name="Image 16" descr="preencoded.png">
            <a:extLst>
              <a:ext uri="{FF2B5EF4-FFF2-40B4-BE49-F238E27FC236}">
                <a16:creationId xmlns:a16="http://schemas.microsoft.com/office/drawing/2014/main" id="{0D2C319C-1E8D-5B76-E75F-D51BD448E6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805" y="5726600"/>
            <a:ext cx="320522" cy="320522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573258D-CF88-8B32-E394-B2F0BE5601AB}"/>
              </a:ext>
            </a:extLst>
          </p:cNvPr>
          <p:cNvSpPr txBox="1"/>
          <p:nvPr/>
        </p:nvSpPr>
        <p:spPr>
          <a:xfrm>
            <a:off x="1545515" y="5481730"/>
            <a:ext cx="10411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  <a:endParaRPr lang="en-IN" sz="2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632801-02EA-CAA9-C57E-7512A430B754}"/>
              </a:ext>
            </a:extLst>
          </p:cNvPr>
          <p:cNvSpPr txBox="1"/>
          <p:nvPr/>
        </p:nvSpPr>
        <p:spPr>
          <a:xfrm>
            <a:off x="1229765" y="5817330"/>
            <a:ext cx="10411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Consent-based, secure data sharing. </a:t>
            </a:r>
          </a:p>
        </p:txBody>
      </p:sp>
      <p:pic>
        <p:nvPicPr>
          <p:cNvPr id="74" name="Image 17" descr="preencoded.png">
            <a:extLst>
              <a:ext uri="{FF2B5EF4-FFF2-40B4-BE49-F238E27FC236}">
                <a16:creationId xmlns:a16="http://schemas.microsoft.com/office/drawing/2014/main" id="{BAC0E756-8E61-CF93-5D60-6EEB171DF8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245" y="6593235"/>
            <a:ext cx="320522" cy="320522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6C73280E-7EE0-C04C-90E3-ED01D1A1844F}"/>
              </a:ext>
            </a:extLst>
          </p:cNvPr>
          <p:cNvSpPr txBox="1"/>
          <p:nvPr/>
        </p:nvSpPr>
        <p:spPr>
          <a:xfrm>
            <a:off x="1485831" y="6330920"/>
            <a:ext cx="10411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 [SDG 9]</a:t>
            </a:r>
            <a:endParaRPr lang="en-IN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316D9E1-7838-5194-9888-22843C47AAF5}"/>
              </a:ext>
            </a:extLst>
          </p:cNvPr>
          <p:cNvSpPr txBox="1"/>
          <p:nvPr/>
        </p:nvSpPr>
        <p:spPr>
          <a:xfrm>
            <a:off x="1484941" y="6701534"/>
            <a:ext cx="4258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Extendable across departments and services</a:t>
            </a:r>
            <a:endParaRPr lang="en-IN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988D1D3-F0C4-6CB6-9DEE-0A49F40F1CA3}"/>
              </a:ext>
            </a:extLst>
          </p:cNvPr>
          <p:cNvSpPr txBox="1"/>
          <p:nvPr/>
        </p:nvSpPr>
        <p:spPr>
          <a:xfrm>
            <a:off x="6784415" y="2012991"/>
            <a:ext cx="11751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Citizens</a:t>
            </a:r>
            <a:endParaRPr lang="en-IN" sz="2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4AC9D80-CE4A-10B0-9D73-767D2E95B89B}"/>
              </a:ext>
            </a:extLst>
          </p:cNvPr>
          <p:cNvSpPr txBox="1"/>
          <p:nvPr/>
        </p:nvSpPr>
        <p:spPr>
          <a:xfrm>
            <a:off x="6745530" y="2351691"/>
            <a:ext cx="4270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Faster, transparent, hassle-free services. 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6DD5813-E549-3A78-8278-1F2CD3CBB10D}"/>
              </a:ext>
            </a:extLst>
          </p:cNvPr>
          <p:cNvSpPr txBox="1"/>
          <p:nvPr/>
        </p:nvSpPr>
        <p:spPr>
          <a:xfrm>
            <a:off x="6773430" y="4617566"/>
            <a:ext cx="21211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Businesses</a:t>
            </a:r>
            <a:endParaRPr lang="en-IN" sz="20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E56017D-217E-C00D-F76C-880F70A193E7}"/>
              </a:ext>
            </a:extLst>
          </p:cNvPr>
          <p:cNvSpPr txBox="1"/>
          <p:nvPr/>
        </p:nvSpPr>
        <p:spPr>
          <a:xfrm>
            <a:off x="6763668" y="4993307"/>
            <a:ext cx="4270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eaLnBrk="0" fontAlgn="base" hangingPunct="0"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approvals and simplified licensing. 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AB25A70-5B3E-9A5C-C77D-49E946C49635}"/>
              </a:ext>
            </a:extLst>
          </p:cNvPr>
          <p:cNvGrpSpPr/>
          <p:nvPr/>
        </p:nvGrpSpPr>
        <p:grpSpPr>
          <a:xfrm>
            <a:off x="6064941" y="2095500"/>
            <a:ext cx="665458" cy="4972101"/>
            <a:chOff x="825174" y="2205355"/>
            <a:chExt cx="628178" cy="4949501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ACBA138-49FB-5BAF-A86A-F4B676A60DD3}"/>
                </a:ext>
              </a:extLst>
            </p:cNvPr>
            <p:cNvGrpSpPr/>
            <p:nvPr/>
          </p:nvGrpSpPr>
          <p:grpSpPr>
            <a:xfrm>
              <a:off x="836159" y="2205355"/>
              <a:ext cx="617193" cy="2344926"/>
              <a:chOff x="836159" y="2205355"/>
              <a:chExt cx="617193" cy="2344926"/>
            </a:xfrm>
          </p:grpSpPr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644C454E-38C0-C3C6-B317-3ABB890C4E8C}"/>
                  </a:ext>
                </a:extLst>
              </p:cNvPr>
              <p:cNvSpPr/>
              <p:nvPr/>
            </p:nvSpPr>
            <p:spPr>
              <a:xfrm>
                <a:off x="856213" y="3020689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1033375E-3C69-2BCA-1EC1-6A5382150798}"/>
                  </a:ext>
                </a:extLst>
              </p:cNvPr>
              <p:cNvSpPr/>
              <p:nvPr/>
            </p:nvSpPr>
            <p:spPr>
              <a:xfrm>
                <a:off x="845228" y="2205355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86DE341F-A8D2-56AA-FE6C-C040BDD6E327}"/>
                  </a:ext>
                </a:extLst>
              </p:cNvPr>
              <p:cNvSpPr/>
              <p:nvPr/>
            </p:nvSpPr>
            <p:spPr>
              <a:xfrm>
                <a:off x="836159" y="3938937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F3DAC91B-F6F9-B309-0F28-8433101D3D97}"/>
                </a:ext>
              </a:extLst>
            </p:cNvPr>
            <p:cNvGrpSpPr/>
            <p:nvPr/>
          </p:nvGrpSpPr>
          <p:grpSpPr>
            <a:xfrm>
              <a:off x="825174" y="4809930"/>
              <a:ext cx="617193" cy="2344926"/>
              <a:chOff x="836159" y="2205355"/>
              <a:chExt cx="617193" cy="2344926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20CF0FC5-24BA-6BC7-D433-4B7DE79E25F5}"/>
                  </a:ext>
                </a:extLst>
              </p:cNvPr>
              <p:cNvSpPr/>
              <p:nvPr/>
            </p:nvSpPr>
            <p:spPr>
              <a:xfrm>
                <a:off x="856213" y="3020689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C9E7E4E3-C14D-2482-E47D-94A65159CDF0}"/>
                  </a:ext>
                </a:extLst>
              </p:cNvPr>
              <p:cNvSpPr/>
              <p:nvPr/>
            </p:nvSpPr>
            <p:spPr>
              <a:xfrm>
                <a:off x="845228" y="2205355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C898B330-EA0E-A5F4-5AB8-797DEC4A6C1D}"/>
                  </a:ext>
                </a:extLst>
              </p:cNvPr>
              <p:cNvSpPr/>
              <p:nvPr/>
            </p:nvSpPr>
            <p:spPr>
              <a:xfrm>
                <a:off x="836159" y="3938937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pic>
        <p:nvPicPr>
          <p:cNvPr id="126" name="Image 18" descr="preencoded.png">
            <a:extLst>
              <a:ext uri="{FF2B5EF4-FFF2-40B4-BE49-F238E27FC236}">
                <a16:creationId xmlns:a16="http://schemas.microsoft.com/office/drawing/2014/main" id="{361A29B2-86FD-5B6B-5262-9931D3CA07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0048" y="2259028"/>
            <a:ext cx="337698" cy="337698"/>
          </a:xfrm>
          <a:prstGeom prst="rect">
            <a:avLst/>
          </a:prstGeom>
        </p:spPr>
      </p:pic>
      <p:pic>
        <p:nvPicPr>
          <p:cNvPr id="127" name="Image 19" descr="preencoded.png">
            <a:extLst>
              <a:ext uri="{FF2B5EF4-FFF2-40B4-BE49-F238E27FC236}">
                <a16:creationId xmlns:a16="http://schemas.microsoft.com/office/drawing/2014/main" id="{7243E606-E091-0A7C-352F-59323F1372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8281" y="3074219"/>
            <a:ext cx="379027" cy="379027"/>
          </a:xfrm>
          <a:prstGeom prst="rect">
            <a:avLst/>
          </a:prstGeom>
        </p:spPr>
      </p:pic>
      <p:pic>
        <p:nvPicPr>
          <p:cNvPr id="128" name="Image 20" descr="preencoded.png">
            <a:extLst>
              <a:ext uri="{FF2B5EF4-FFF2-40B4-BE49-F238E27FC236}">
                <a16:creationId xmlns:a16="http://schemas.microsoft.com/office/drawing/2014/main" id="{1F4D46DE-44A6-ED4C-370F-341E6B0E48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5178" y="4021357"/>
            <a:ext cx="285232" cy="285232"/>
          </a:xfrm>
          <a:prstGeom prst="rect">
            <a:avLst/>
          </a:prstGeom>
        </p:spPr>
      </p:pic>
      <p:pic>
        <p:nvPicPr>
          <p:cNvPr id="129" name="Image 21" descr="preencoded.png">
            <a:extLst>
              <a:ext uri="{FF2B5EF4-FFF2-40B4-BE49-F238E27FC236}">
                <a16:creationId xmlns:a16="http://schemas.microsoft.com/office/drawing/2014/main" id="{423403E2-C15A-C36C-BE66-5E6BCD0B62F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24956" y="4872931"/>
            <a:ext cx="336407" cy="336407"/>
          </a:xfrm>
          <a:prstGeom prst="rect">
            <a:avLst/>
          </a:prstGeom>
        </p:spPr>
      </p:pic>
      <p:pic>
        <p:nvPicPr>
          <p:cNvPr id="130" name="Image 22" descr="preencoded.png">
            <a:extLst>
              <a:ext uri="{FF2B5EF4-FFF2-40B4-BE49-F238E27FC236}">
                <a16:creationId xmlns:a16="http://schemas.microsoft.com/office/drawing/2014/main" id="{56E84D80-A0EA-3FE2-1D04-9EE6CB74992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8854" y="5724591"/>
            <a:ext cx="322509" cy="322509"/>
          </a:xfrm>
          <a:prstGeom prst="rect">
            <a:avLst/>
          </a:prstGeom>
        </p:spPr>
      </p:pic>
      <p:pic>
        <p:nvPicPr>
          <p:cNvPr id="131" name="Image 23" descr="preencoded.png">
            <a:extLst>
              <a:ext uri="{FF2B5EF4-FFF2-40B4-BE49-F238E27FC236}">
                <a16:creationId xmlns:a16="http://schemas.microsoft.com/office/drawing/2014/main" id="{1E8CE90A-38CD-9832-1DA1-4CA2092A025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08281" y="6603602"/>
            <a:ext cx="331780" cy="331780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7B2A48DA-F6E8-937C-7315-144D8CD75C29}"/>
              </a:ext>
            </a:extLst>
          </p:cNvPr>
          <p:cNvSpPr txBox="1"/>
          <p:nvPr/>
        </p:nvSpPr>
        <p:spPr>
          <a:xfrm>
            <a:off x="6816499" y="2864103"/>
            <a:ext cx="339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Rural Citizens</a:t>
            </a:r>
            <a:endParaRPr lang="en-IN" sz="20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F3A464A-FBA4-31BE-5BCC-C19ACBEBE1BD}"/>
              </a:ext>
            </a:extLst>
          </p:cNvPr>
          <p:cNvSpPr txBox="1"/>
          <p:nvPr/>
        </p:nvSpPr>
        <p:spPr>
          <a:xfrm>
            <a:off x="6799763" y="3249202"/>
            <a:ext cx="4234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travel, paperwork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middlemen. </a:t>
            </a:r>
            <a:endParaRPr lang="en-IN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B38D798-A242-6DCA-A28D-71F6CCE19774}"/>
              </a:ext>
            </a:extLst>
          </p:cNvPr>
          <p:cNvSpPr txBox="1"/>
          <p:nvPr/>
        </p:nvSpPr>
        <p:spPr>
          <a:xfrm>
            <a:off x="6823826" y="3776694"/>
            <a:ext cx="3638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Officers</a:t>
            </a:r>
            <a:endParaRPr lang="en-IN" sz="20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3889270-0DDC-5A5C-E122-AAB2AE609588}"/>
              </a:ext>
            </a:extLst>
          </p:cNvPr>
          <p:cNvSpPr txBox="1"/>
          <p:nvPr/>
        </p:nvSpPr>
        <p:spPr>
          <a:xfrm>
            <a:off x="6761490" y="4146741"/>
            <a:ext cx="10411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manual verification and faster processing</a:t>
            </a:r>
            <a:endParaRPr lang="en-IN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01A95E4-0D66-0673-A8E1-A7B404730B04}"/>
              </a:ext>
            </a:extLst>
          </p:cNvPr>
          <p:cNvSpPr txBox="1"/>
          <p:nvPr/>
        </p:nvSpPr>
        <p:spPr>
          <a:xfrm>
            <a:off x="6778134" y="5518302"/>
            <a:ext cx="339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</a:t>
            </a:r>
            <a:endParaRPr lang="en-IN" sz="20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053EEC9-E1CC-E978-F80E-69E7FD5C65CE}"/>
              </a:ext>
            </a:extLst>
          </p:cNvPr>
          <p:cNvSpPr txBox="1"/>
          <p:nvPr/>
        </p:nvSpPr>
        <p:spPr>
          <a:xfrm>
            <a:off x="6761398" y="5903401"/>
            <a:ext cx="10411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monitoring and data-driven decisions. </a:t>
            </a:r>
            <a:endParaRPr lang="en-IN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0E86A34-2B58-0297-808A-2D4C05748595}"/>
              </a:ext>
            </a:extLst>
          </p:cNvPr>
          <p:cNvSpPr txBox="1"/>
          <p:nvPr/>
        </p:nvSpPr>
        <p:spPr>
          <a:xfrm>
            <a:off x="6738203" y="6346734"/>
            <a:ext cx="339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Vulnerable Groups</a:t>
            </a:r>
            <a:endParaRPr lang="en-IN" sz="20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02AADE8-DA45-904D-4111-523A3DB28826}"/>
              </a:ext>
            </a:extLst>
          </p:cNvPr>
          <p:cNvSpPr txBox="1"/>
          <p:nvPr/>
        </p:nvSpPr>
        <p:spPr>
          <a:xfrm>
            <a:off x="6721467" y="6731833"/>
            <a:ext cx="10411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time, travel and effort.</a:t>
            </a:r>
            <a:endParaRPr lang="en-I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BD8E3B-0495-95D5-DCFF-1DDF8A4E8BAF}"/>
              </a:ext>
            </a:extLst>
          </p:cNvPr>
          <p:cNvGrpSpPr/>
          <p:nvPr/>
        </p:nvGrpSpPr>
        <p:grpSpPr>
          <a:xfrm>
            <a:off x="421716" y="7429500"/>
            <a:ext cx="21142884" cy="2287823"/>
            <a:chOff x="117851" y="7261067"/>
            <a:chExt cx="21142884" cy="2287823"/>
          </a:xfrm>
        </p:grpSpPr>
        <p:pic>
          <p:nvPicPr>
            <p:cNvPr id="34" name="object 19">
              <a:extLst>
                <a:ext uri="{FF2B5EF4-FFF2-40B4-BE49-F238E27FC236}">
                  <a16:creationId xmlns:a16="http://schemas.microsoft.com/office/drawing/2014/main" id="{55F9887E-CFC0-5E94-6C30-81EEF0036C7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851" y="7261067"/>
              <a:ext cx="15362051" cy="836309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DCE88E9-A141-B65D-F912-41143A82DF2F}"/>
                </a:ext>
              </a:extLst>
            </p:cNvPr>
            <p:cNvSpPr txBox="1"/>
            <p:nvPr/>
          </p:nvSpPr>
          <p:spPr>
            <a:xfrm>
              <a:off x="6662004" y="7451501"/>
              <a:ext cx="2634396" cy="815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IN" sz="2350" b="1" spc="-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STAKEHOLDERS</a:t>
              </a:r>
              <a:endParaRPr lang="en-IN" sz="2350" dirty="0">
                <a:latin typeface="Times New Roman"/>
                <a:cs typeface="Times New Roman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697AA25-CF02-EA8B-7FD0-1C91E8EE0E4B}"/>
                </a:ext>
              </a:extLst>
            </p:cNvPr>
            <p:cNvSpPr txBox="1"/>
            <p:nvPr/>
          </p:nvSpPr>
          <p:spPr>
            <a:xfrm>
              <a:off x="609600" y="8115300"/>
              <a:ext cx="196617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Citizens / Users</a:t>
              </a:r>
              <a:endParaRPr lang="en-IN" sz="20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8E90880-05CF-BA7D-2BBB-88F54C93F9F1}"/>
                </a:ext>
              </a:extLst>
            </p:cNvPr>
            <p:cNvSpPr txBox="1"/>
            <p:nvPr/>
          </p:nvSpPr>
          <p:spPr>
            <a:xfrm>
              <a:off x="5493913" y="8154442"/>
              <a:ext cx="449427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Government Departments</a:t>
              </a:r>
              <a:endParaRPr lang="en-IN" sz="2000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5040073D-7C0F-95B4-037B-2A224B6B52F3}"/>
                </a:ext>
              </a:extLst>
            </p:cNvPr>
            <p:cNvSpPr txBox="1"/>
            <p:nvPr/>
          </p:nvSpPr>
          <p:spPr>
            <a:xfrm>
              <a:off x="10369579" y="8163168"/>
              <a:ext cx="108911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Government Officials</a:t>
              </a:r>
              <a:endParaRPr lang="en-IN" sz="2000" dirty="0"/>
            </a:p>
          </p:txBody>
        </p:sp>
        <p:sp>
          <p:nvSpPr>
            <p:cNvPr id="176" name="Rectangle 5">
              <a:extLst>
                <a:ext uri="{FF2B5EF4-FFF2-40B4-BE49-F238E27FC236}">
                  <a16:creationId xmlns:a16="http://schemas.microsoft.com/office/drawing/2014/main" id="{FB542D61-ABF3-5CD2-866A-21B7F9914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33" y="8536653"/>
              <a:ext cx="4494276" cy="8735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Easy service access &amp; application tracking 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Less paperwork &amp; office visits </a:t>
              </a:r>
            </a:p>
          </p:txBody>
        </p:sp>
        <p:sp>
          <p:nvSpPr>
            <p:cNvPr id="177" name="Rectangle 6">
              <a:extLst>
                <a:ext uri="{FF2B5EF4-FFF2-40B4-BE49-F238E27FC236}">
                  <a16:creationId xmlns:a16="http://schemas.microsoft.com/office/drawing/2014/main" id="{8ECCAC70-AA70-C512-B47C-354B052F01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5448300" y="8569011"/>
              <a:ext cx="5327067" cy="8735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Secure data sharing &amp; verification 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Less manual work &amp; faster service delivery </a:t>
              </a:r>
            </a:p>
          </p:txBody>
        </p:sp>
        <p:sp>
          <p:nvSpPr>
            <p:cNvPr id="178" name="Rectangle 7">
              <a:extLst>
                <a:ext uri="{FF2B5EF4-FFF2-40B4-BE49-F238E27FC236}">
                  <a16:creationId xmlns:a16="http://schemas.microsoft.com/office/drawing/2014/main" id="{D88A9266-5ABF-2E88-2953-4BC25B77A2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10337431" y="8675318"/>
              <a:ext cx="5327067" cy="8735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Efficient application, workflow &amp;  management 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Better monitoring &amp; transparency 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8426227-88AB-5FAB-1CD0-2D699D79DF9C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437" y="1245336"/>
            <a:ext cx="4595347" cy="51132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1AA0FB-5E52-4E9E-7B2F-A8CF77D56E74}"/>
              </a:ext>
            </a:extLst>
          </p:cNvPr>
          <p:cNvSpPr txBox="1"/>
          <p:nvPr/>
        </p:nvSpPr>
        <p:spPr>
          <a:xfrm>
            <a:off x="11234004" y="6384164"/>
            <a:ext cx="4389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OneDesk adds an integration layer - existing departmental systems remain unchanged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5640C1-F62D-429C-295B-E1CBFF4E834C}"/>
              </a:ext>
            </a:extLst>
          </p:cNvPr>
          <p:cNvGrpSpPr/>
          <p:nvPr/>
        </p:nvGrpSpPr>
        <p:grpSpPr>
          <a:xfrm>
            <a:off x="0" y="0"/>
            <a:ext cx="2743201" cy="706896"/>
            <a:chOff x="228599" y="192025"/>
            <a:chExt cx="2743201" cy="706896"/>
          </a:xfrm>
        </p:grpSpPr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39131F55-F67F-1840-F620-DB58F5838F00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8599" y="192025"/>
              <a:ext cx="2300762" cy="544672"/>
            </a:xfrm>
            <a:prstGeom prst="rect">
              <a:avLst/>
            </a:prstGeom>
          </p:spPr>
        </p:pic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8D7B4798-93CE-0433-6519-DA9C35B60E19}"/>
                </a:ext>
              </a:extLst>
            </p:cNvPr>
            <p:cNvSpPr txBox="1"/>
            <p:nvPr/>
          </p:nvSpPr>
          <p:spPr>
            <a:xfrm>
              <a:off x="252420" y="736697"/>
              <a:ext cx="2719380" cy="16222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Citizen,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Government,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lang="en-US" sz="950" spc="-10" dirty="0">
                  <a:latin typeface="Times New Roman"/>
                  <a:cs typeface="Times New Roman"/>
                </a:rPr>
                <a:t>Platform</a:t>
              </a:r>
              <a:r>
                <a:rPr sz="950" spc="-10" dirty="0">
                  <a:latin typeface="Times New Roman"/>
                  <a:cs typeface="Times New Roman"/>
                </a:rPr>
                <a:t>.</a:t>
              </a:r>
              <a:endParaRPr sz="950" dirty="0">
                <a:latin typeface="Times New Roman"/>
                <a:cs typeface="Times New Roman"/>
              </a:endParaRPr>
            </a:p>
          </p:txBody>
        </p:sp>
      </p:grpSp>
      <p:pic>
        <p:nvPicPr>
          <p:cNvPr id="17" name="object 2">
            <a:extLst>
              <a:ext uri="{FF2B5EF4-FFF2-40B4-BE49-F238E27FC236}">
                <a16:creationId xmlns:a16="http://schemas.microsoft.com/office/drawing/2014/main" id="{3C3EDDFD-171A-8CD9-520B-F36A1CAF49FE}"/>
              </a:ext>
            </a:extLst>
          </p:cNvPr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373781" y="111095"/>
            <a:ext cx="1465605" cy="841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89050"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RESEARCH</a:t>
            </a:r>
            <a:r>
              <a:rPr spc="-22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98912" y="9858007"/>
            <a:ext cx="85363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Calibri"/>
                <a:cs typeface="Calibri"/>
              </a:rPr>
              <a:t>GitHub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: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One</a:t>
            </a:r>
            <a:r>
              <a:rPr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Desk</a:t>
            </a:r>
            <a:r>
              <a:rPr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-</a:t>
            </a:r>
            <a:r>
              <a:rPr sz="21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System</a:t>
            </a:r>
            <a:r>
              <a:rPr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Integrations</a:t>
            </a:r>
            <a:r>
              <a:rPr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and</a:t>
            </a:r>
            <a:r>
              <a:rPr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Intero</a:t>
            </a:r>
            <a:r>
              <a:rPr sz="2100" spc="-10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p</a:t>
            </a:r>
            <a:r>
              <a:rPr sz="2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erability</a:t>
            </a:r>
            <a:r>
              <a:rPr sz="2100" u="sng" spc="1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among</a:t>
            </a:r>
            <a:r>
              <a:rPr sz="2100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Govt</a:t>
            </a:r>
            <a:r>
              <a:rPr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Orgs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30551" y="850000"/>
            <a:ext cx="5882299" cy="2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7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130551" y="850000"/>
            <a:ext cx="5882299" cy="430000"/>
          </a:xfrm>
          <a:prstGeom prst="rect">
            <a:avLst/>
          </a:prstGeom>
          <a:solidFill>
            <a:srgbClr val="00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260551" y="850000"/>
            <a:ext cx="562229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50" b="1" i="0" u="none" dirty="0">
                <a:solidFill>
                  <a:srgbClr val="FFFFFF"/>
                </a:solidFill>
                <a:latin typeface="Times New Roman"/>
              </a:rPr>
              <a:t>Government &amp; Interoperability Frameworks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551" y="1390000"/>
            <a:ext cx="5622299" cy="1536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006169"/>
                </a:solidFill>
                <a:latin typeface="Times New Roman"/>
              </a:rPr>
              <a:t>●  </a:t>
            </a:r>
            <a:r>
              <a:rPr sz="1650" b="1" i="0" dirty="0">
                <a:solidFill>
                  <a:srgbClr val="1C2530"/>
                </a:solidFill>
                <a:latin typeface="Times New Roman"/>
                <a:hlinkClick r:id="rId4"/>
              </a:rPr>
              <a:t>India API Setu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MeitY · National interoperability platform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006169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5"/>
              </a:rPr>
              <a:t>India Enterprise Architecture (IndEA) 1.0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Govt. of India enterprise framework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006169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6"/>
              </a:rPr>
              <a:t>India Stack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UIDAI · NPCI · MeitY </a:t>
            </a:r>
            <a:r>
              <a:rPr lang="en-US" sz="1350" b="0" i="1" u="none" dirty="0">
                <a:solidFill>
                  <a:srgbClr val="5C6675"/>
                </a:solidFill>
                <a:latin typeface="Times New Roman"/>
              </a:rPr>
              <a:t>-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 Aadhaar, </a:t>
            </a:r>
            <a:r>
              <a:rPr sz="1350" b="0" i="1" u="none" dirty="0" err="1">
                <a:solidFill>
                  <a:srgbClr val="5C6675"/>
                </a:solidFill>
                <a:latin typeface="Times New Roman"/>
              </a:rPr>
              <a:t>eKYC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, UPI, </a:t>
            </a:r>
            <a:r>
              <a:rPr sz="1350" b="0" i="1" u="none" dirty="0" err="1">
                <a:solidFill>
                  <a:srgbClr val="5C6675"/>
                </a:solidFill>
                <a:latin typeface="Times New Roman"/>
              </a:rPr>
              <a:t>DigiLocker</a:t>
            </a:r>
            <a:endParaRPr sz="1350" b="0" i="1" u="none" dirty="0">
              <a:solidFill>
                <a:srgbClr val="5C6675"/>
              </a:solidFill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006169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7"/>
              </a:rPr>
              <a:t>X-Road Data Exchange Layer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Estonia · national X-Road backbone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0551" y="3000000"/>
            <a:ext cx="5882299" cy="330000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260551" y="3000000"/>
            <a:ext cx="5622299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 u="none" dirty="0">
                <a:solidFill>
                  <a:srgbClr val="006169"/>
                </a:solidFill>
                <a:latin typeface="Times New Roman"/>
              </a:rPr>
              <a:t>4 SOURCES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2850" y="850000"/>
            <a:ext cx="5882299" cy="2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6202850" y="850000"/>
            <a:ext cx="5882299" cy="430000"/>
          </a:xfrm>
          <a:prstGeom prst="rect">
            <a:avLst/>
          </a:prstGeom>
          <a:solidFill>
            <a:srgbClr val="115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6332850" y="850000"/>
            <a:ext cx="562229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50" b="1" i="0" u="none" dirty="0">
                <a:solidFill>
                  <a:srgbClr val="FFFFFF"/>
                </a:solidFill>
                <a:latin typeface="Times New Roman"/>
              </a:rPr>
              <a:t>Technical Standards &amp;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2850" y="1390000"/>
            <a:ext cx="5622299" cy="1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1159B1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8"/>
              </a:rPr>
              <a:t>OAuth 2.0 Authorization Framework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RFC 6749 · IETF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1159B1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9"/>
              </a:rPr>
              <a:t>OpenID Connect Core 1.0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Identity layer over OAuth 2.0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1159B1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10"/>
              </a:rPr>
              <a:t>Canonical Data Model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Enterprise Integration Patterns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1159B1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11"/>
              </a:rPr>
              <a:t>API Gateway Pattern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microservices.io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2850" y="3000000"/>
            <a:ext cx="5882299" cy="330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6332850" y="3000000"/>
            <a:ext cx="5622299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 u="none" dirty="0">
                <a:solidFill>
                  <a:srgbClr val="1159B1"/>
                </a:solidFill>
                <a:latin typeface="Times New Roman"/>
              </a:rPr>
              <a:t>4 SOURCES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275149" y="850000"/>
            <a:ext cx="5882299" cy="2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D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12275149" y="850000"/>
            <a:ext cx="5882299" cy="430000"/>
          </a:xfrm>
          <a:prstGeom prst="rect">
            <a:avLst/>
          </a:prstGeom>
          <a:solidFill>
            <a:srgbClr val="5E2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12405149" y="850000"/>
            <a:ext cx="562229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50" b="1" i="0" u="none" dirty="0">
                <a:solidFill>
                  <a:srgbClr val="FFFFFF"/>
                </a:solidFill>
                <a:latin typeface="Times New Roman"/>
              </a:rPr>
              <a:t>Research &amp; Academic Papers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05149" y="1390000"/>
            <a:ext cx="5622299" cy="1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5E2C9F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12"/>
              </a:rPr>
              <a:t>Sarantis et al. </a:t>
            </a:r>
            <a:r>
              <a:rPr lang="en-US" sz="1650" b="1" dirty="0">
                <a:solidFill>
                  <a:srgbClr val="1C2530"/>
                </a:solidFill>
                <a:latin typeface="Times New Roman"/>
                <a:hlinkClick r:id="rId12"/>
              </a:rPr>
              <a:t>-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12"/>
              </a:rPr>
              <a:t> Greek EGIF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IEEE · one-stop service provision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5E2C9F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13"/>
              </a:rPr>
              <a:t>E-gov Data Interoperability, Hong Kong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IEEE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5E2C9F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14"/>
              </a:rPr>
              <a:t>One-Stop-Shop e-Government Paradigm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IEEE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5E2C9F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15"/>
              </a:rPr>
              <a:t>Cross-Border Interoperable Identity   </a:t>
            </a:r>
            <a:r>
              <a:rPr sz="1350" b="0" i="1" u="none" dirty="0" err="1">
                <a:solidFill>
                  <a:srgbClr val="5C6675"/>
                </a:solidFill>
                <a:latin typeface="Times New Roman"/>
              </a:rPr>
              <a:t>arXiv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, 2023 · developing countries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275149" y="3000000"/>
            <a:ext cx="5882299" cy="330000"/>
          </a:xfrm>
          <a:prstGeom prst="rect">
            <a:avLst/>
          </a:prstGeom>
          <a:solidFill>
            <a:srgbClr val="F4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12405149" y="3000000"/>
            <a:ext cx="5622299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 u="none" dirty="0">
                <a:solidFill>
                  <a:srgbClr val="5E2C9F"/>
                </a:solidFill>
                <a:latin typeface="Times New Roman"/>
              </a:rPr>
              <a:t>4 SOURCES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0551" y="3425000"/>
            <a:ext cx="18026898" cy="11400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587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130551" y="3515000"/>
            <a:ext cx="18026898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 dirty="0">
                <a:solidFill>
                  <a:srgbClr val="333D4B"/>
                </a:solidFill>
                <a:latin typeface="Times New Roman"/>
              </a:rPr>
              <a:t>HOW RESEARCH SHAPED ONEDESK</a:t>
            </a:r>
          </a:p>
        </p:txBody>
      </p:sp>
      <p:sp>
        <p:nvSpPr>
          <p:cNvPr id="46" name="Oval 45"/>
          <p:cNvSpPr/>
          <p:nvPr/>
        </p:nvSpPr>
        <p:spPr>
          <a:xfrm>
            <a:off x="1868240" y="3775000"/>
            <a:ext cx="130000" cy="130000"/>
          </a:xfrm>
          <a:prstGeom prst="ellipse">
            <a:avLst/>
          </a:prstGeom>
          <a:solidFill>
            <a:srgbClr val="00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7" name="TextBox 46"/>
          <p:cNvSpPr txBox="1"/>
          <p:nvPr/>
        </p:nvSpPr>
        <p:spPr>
          <a:xfrm>
            <a:off x="130551" y="3945000"/>
            <a:ext cx="3605379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1C2530"/>
                </a:solidFill>
                <a:latin typeface="Times New Roman"/>
              </a:rPr>
              <a:t>Government Frameworks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0551" y="4225000"/>
            <a:ext cx="3605379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u="none" dirty="0">
                <a:solidFill>
                  <a:srgbClr val="5C6675"/>
                </a:solidFill>
                <a:latin typeface="Times New Roman"/>
              </a:rPr>
              <a:t>API Setu · IndEA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75930" y="3755000"/>
            <a:ext cx="12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u="none" dirty="0">
                <a:solidFill>
                  <a:srgbClr val="AAB2BF"/>
                </a:solidFill>
                <a:latin typeface="Times New Roman"/>
              </a:rPr>
              <a:t>→</a:t>
            </a:r>
          </a:p>
        </p:txBody>
      </p:sp>
      <p:sp>
        <p:nvSpPr>
          <p:cNvPr id="50" name="Oval 49"/>
          <p:cNvSpPr/>
          <p:nvPr/>
        </p:nvSpPr>
        <p:spPr>
          <a:xfrm>
            <a:off x="5473619" y="3775000"/>
            <a:ext cx="130000" cy="130000"/>
          </a:xfrm>
          <a:prstGeom prst="ellipse">
            <a:avLst/>
          </a:prstGeom>
          <a:solidFill>
            <a:srgbClr val="115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TextBox 50"/>
          <p:cNvSpPr txBox="1"/>
          <p:nvPr/>
        </p:nvSpPr>
        <p:spPr>
          <a:xfrm>
            <a:off x="3735930" y="3945000"/>
            <a:ext cx="3605379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1C2530"/>
                </a:solidFill>
                <a:latin typeface="Times New Roman"/>
              </a:rPr>
              <a:t>Standards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35930" y="4225000"/>
            <a:ext cx="3605379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u="none" dirty="0">
                <a:solidFill>
                  <a:srgbClr val="5C6675"/>
                </a:solidFill>
                <a:latin typeface="Times New Roman"/>
              </a:rPr>
              <a:t>OAuth2 · OIDC · X-Road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81309" y="3755000"/>
            <a:ext cx="12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u="none" dirty="0">
                <a:solidFill>
                  <a:srgbClr val="AAB2BF"/>
                </a:solidFill>
                <a:latin typeface="Times New Roman"/>
              </a:rPr>
              <a:t>→</a:t>
            </a:r>
          </a:p>
        </p:txBody>
      </p:sp>
      <p:sp>
        <p:nvSpPr>
          <p:cNvPr id="54" name="Oval 53"/>
          <p:cNvSpPr/>
          <p:nvPr/>
        </p:nvSpPr>
        <p:spPr>
          <a:xfrm>
            <a:off x="9078998" y="3775000"/>
            <a:ext cx="130000" cy="130000"/>
          </a:xfrm>
          <a:prstGeom prst="ellipse">
            <a:avLst/>
          </a:prstGeom>
          <a:solidFill>
            <a:srgbClr val="5E2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7341309" y="3945000"/>
            <a:ext cx="3605379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1C2530"/>
                </a:solidFill>
                <a:latin typeface="Times New Roman"/>
              </a:rPr>
              <a:t>Research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41309" y="4225000"/>
            <a:ext cx="3605379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u="none" dirty="0">
                <a:solidFill>
                  <a:srgbClr val="5C6675"/>
                </a:solidFill>
                <a:latin typeface="Times New Roman"/>
              </a:rPr>
              <a:t>IEEE · </a:t>
            </a:r>
            <a:r>
              <a:rPr sz="1250" b="0" i="0" u="none" dirty="0" err="1">
                <a:solidFill>
                  <a:srgbClr val="5C6675"/>
                </a:solidFill>
                <a:latin typeface="Times New Roman"/>
              </a:rPr>
              <a:t>arXiv</a:t>
            </a:r>
            <a:r>
              <a:rPr sz="1250" b="0" i="0" u="none" dirty="0">
                <a:solidFill>
                  <a:srgbClr val="5C6675"/>
                </a:solidFill>
                <a:latin typeface="Times New Roman"/>
              </a:rPr>
              <a:t> papers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86688" y="3755000"/>
            <a:ext cx="12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u="none" dirty="0">
                <a:solidFill>
                  <a:srgbClr val="AAB2BF"/>
                </a:solidFill>
                <a:latin typeface="Times New Roman"/>
              </a:rPr>
              <a:t>→</a:t>
            </a:r>
          </a:p>
        </p:txBody>
      </p:sp>
      <p:sp>
        <p:nvSpPr>
          <p:cNvPr id="58" name="Oval 57"/>
          <p:cNvSpPr/>
          <p:nvPr/>
        </p:nvSpPr>
        <p:spPr>
          <a:xfrm>
            <a:off x="12684377" y="3775000"/>
            <a:ext cx="130000" cy="130000"/>
          </a:xfrm>
          <a:prstGeom prst="ellipse">
            <a:avLst/>
          </a:prstGeom>
          <a:solidFill>
            <a:srgbClr val="00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9" name="TextBox 58"/>
          <p:cNvSpPr txBox="1"/>
          <p:nvPr/>
        </p:nvSpPr>
        <p:spPr>
          <a:xfrm>
            <a:off x="10946688" y="3945000"/>
            <a:ext cx="3605379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1C2530"/>
                </a:solidFill>
                <a:latin typeface="Times New Roman"/>
              </a:rPr>
              <a:t>Architecture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46688" y="4225000"/>
            <a:ext cx="3605379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u="none" dirty="0">
                <a:solidFill>
                  <a:srgbClr val="5C6675"/>
                </a:solidFill>
                <a:latin typeface="Times New Roman"/>
              </a:rPr>
              <a:t>Gateway · canonical model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492067" y="3755000"/>
            <a:ext cx="12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u="none" dirty="0">
                <a:solidFill>
                  <a:srgbClr val="AAB2BF"/>
                </a:solidFill>
                <a:latin typeface="Times New Roman"/>
              </a:rPr>
              <a:t>→</a:t>
            </a:r>
          </a:p>
        </p:txBody>
      </p:sp>
      <p:sp>
        <p:nvSpPr>
          <p:cNvPr id="62" name="Oval 61"/>
          <p:cNvSpPr/>
          <p:nvPr/>
        </p:nvSpPr>
        <p:spPr>
          <a:xfrm>
            <a:off x="16289756" y="3775000"/>
            <a:ext cx="130000" cy="130000"/>
          </a:xfrm>
          <a:prstGeom prst="ellipse">
            <a:avLst/>
          </a:prstGeom>
          <a:solidFill>
            <a:srgbClr val="115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3" name="TextBox 62"/>
          <p:cNvSpPr txBox="1"/>
          <p:nvPr/>
        </p:nvSpPr>
        <p:spPr>
          <a:xfrm>
            <a:off x="14552067" y="3945000"/>
            <a:ext cx="3605379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1C2530"/>
                </a:solidFill>
                <a:latin typeface="Times New Roman"/>
              </a:rPr>
              <a:t>OneDesk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552067" y="4225000"/>
            <a:ext cx="3605379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u="none" dirty="0">
                <a:solidFill>
                  <a:srgbClr val="5C6675"/>
                </a:solidFill>
                <a:latin typeface="Times New Roman"/>
              </a:rPr>
              <a:t>production system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30551" y="4660000"/>
            <a:ext cx="8918449" cy="509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6" name="Rectangle 65"/>
          <p:cNvSpPr/>
          <p:nvPr/>
        </p:nvSpPr>
        <p:spPr>
          <a:xfrm>
            <a:off x="130551" y="4660000"/>
            <a:ext cx="8918449" cy="340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7" name="Rectangle 66"/>
          <p:cNvSpPr/>
          <p:nvPr/>
        </p:nvSpPr>
        <p:spPr>
          <a:xfrm>
            <a:off x="130551" y="4977775"/>
            <a:ext cx="8918449" cy="22225"/>
          </a:xfrm>
          <a:prstGeom prst="rect">
            <a:avLst/>
          </a:prstGeom>
          <a:solidFill>
            <a:srgbClr val="00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8" name="TextBox 67"/>
          <p:cNvSpPr txBox="1"/>
          <p:nvPr/>
        </p:nvSpPr>
        <p:spPr>
          <a:xfrm>
            <a:off x="260551" y="4660000"/>
            <a:ext cx="8658449" cy="317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 b="1" i="0" u="none" dirty="0">
                <a:solidFill>
                  <a:srgbClr val="1C2530"/>
                </a:solidFill>
                <a:latin typeface="Times New Roman"/>
              </a:rPr>
              <a:t>Citizen Experience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3301" y="5072225"/>
            <a:ext cx="7752949" cy="4337775"/>
          </a:xfrm>
          <a:prstGeom prst="rect">
            <a:avLst/>
          </a:prstGeom>
          <a:ln w="9525">
            <a:solidFill>
              <a:srgbClr val="E4E7EC"/>
            </a:solidFill>
          </a:ln>
        </p:spPr>
      </p:pic>
      <p:sp>
        <p:nvSpPr>
          <p:cNvPr id="71" name="Rounded Rectangle 70"/>
          <p:cNvSpPr/>
          <p:nvPr/>
        </p:nvSpPr>
        <p:spPr>
          <a:xfrm>
            <a:off x="9239000" y="4660000"/>
            <a:ext cx="8918449" cy="509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2" name="Rectangle 71"/>
          <p:cNvSpPr/>
          <p:nvPr/>
        </p:nvSpPr>
        <p:spPr>
          <a:xfrm>
            <a:off x="9239000" y="4660000"/>
            <a:ext cx="8918449" cy="340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3" name="Rectangle 72"/>
          <p:cNvSpPr/>
          <p:nvPr/>
        </p:nvSpPr>
        <p:spPr>
          <a:xfrm>
            <a:off x="9239000" y="4977775"/>
            <a:ext cx="8918449" cy="22225"/>
          </a:xfrm>
          <a:prstGeom prst="rect">
            <a:avLst/>
          </a:prstGeom>
          <a:solidFill>
            <a:srgbClr val="115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4" name="TextBox 73"/>
          <p:cNvSpPr txBox="1"/>
          <p:nvPr/>
        </p:nvSpPr>
        <p:spPr>
          <a:xfrm>
            <a:off x="9369000" y="4660000"/>
            <a:ext cx="8658449" cy="317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 b="1" i="0" u="none" dirty="0">
                <a:solidFill>
                  <a:srgbClr val="1C2530"/>
                </a:solidFill>
                <a:latin typeface="Times New Roman"/>
              </a:rPr>
              <a:t>Admin &amp; Interoperability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21750" y="5072225"/>
            <a:ext cx="7752949" cy="4337775"/>
          </a:xfrm>
          <a:prstGeom prst="rect">
            <a:avLst/>
          </a:prstGeom>
          <a:ln w="9525">
            <a:solidFill>
              <a:srgbClr val="E4E7EC"/>
            </a:solidFill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AFBE307-0ECA-5827-B380-B5F4A8C1DE4B}"/>
              </a:ext>
            </a:extLst>
          </p:cNvPr>
          <p:cNvGrpSpPr/>
          <p:nvPr/>
        </p:nvGrpSpPr>
        <p:grpSpPr>
          <a:xfrm>
            <a:off x="0" y="0"/>
            <a:ext cx="2743201" cy="706896"/>
            <a:chOff x="228599" y="192025"/>
            <a:chExt cx="2743201" cy="706896"/>
          </a:xfrm>
        </p:grpSpPr>
        <p:pic>
          <p:nvPicPr>
            <p:cNvPr id="8" name="object 10">
              <a:extLst>
                <a:ext uri="{FF2B5EF4-FFF2-40B4-BE49-F238E27FC236}">
                  <a16:creationId xmlns:a16="http://schemas.microsoft.com/office/drawing/2014/main" id="{DFCDDE1E-33F7-CE49-4035-0BDFEC2A7153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8599" y="192025"/>
              <a:ext cx="2300762" cy="544672"/>
            </a:xfrm>
            <a:prstGeom prst="rect">
              <a:avLst/>
            </a:prstGeom>
          </p:spPr>
        </p:pic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EF4EF4A1-2351-9F62-AD87-3D52D0C7A8D2}"/>
                </a:ext>
              </a:extLst>
            </p:cNvPr>
            <p:cNvSpPr txBox="1"/>
            <p:nvPr/>
          </p:nvSpPr>
          <p:spPr>
            <a:xfrm>
              <a:off x="252420" y="736697"/>
              <a:ext cx="2719380" cy="16222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Citizen,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Government,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lang="en-US" sz="950" spc="-10" dirty="0">
                  <a:latin typeface="Times New Roman"/>
                  <a:cs typeface="Times New Roman"/>
                </a:rPr>
                <a:t>Platform</a:t>
              </a:r>
              <a:r>
                <a:rPr sz="950" spc="-10" dirty="0">
                  <a:latin typeface="Times New Roman"/>
                  <a:cs typeface="Times New Roman"/>
                </a:rPr>
                <a:t>.</a:t>
              </a:r>
              <a:endParaRPr sz="950" dirty="0">
                <a:latin typeface="Times New Roman"/>
                <a:cs typeface="Times New Roman"/>
              </a:endParaRPr>
            </a:p>
          </p:txBody>
        </p:sp>
      </p:grpSp>
      <p:pic>
        <p:nvPicPr>
          <p:cNvPr id="10" name="object 2">
            <a:extLst>
              <a:ext uri="{FF2B5EF4-FFF2-40B4-BE49-F238E27FC236}">
                <a16:creationId xmlns:a16="http://schemas.microsoft.com/office/drawing/2014/main" id="{2235D08B-10BA-8B0A-15F9-9D51A85B7755}"/>
              </a:ext>
            </a:extLst>
          </p:cNvPr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373781" y="34895"/>
            <a:ext cx="1465605" cy="84140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60551" y="9460000"/>
            <a:ext cx="2052112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 dirty="0">
                <a:solidFill>
                  <a:srgbClr val="006169"/>
                </a:solidFill>
                <a:latin typeface="Times New Roman"/>
              </a:rPr>
              <a:t>✓  </a:t>
            </a:r>
            <a:r>
              <a:rPr sz="1500" dirty="0">
                <a:solidFill>
                  <a:srgbClr val="1C2530"/>
                </a:solidFill>
                <a:latin typeface="Times New Roman"/>
              </a:rPr>
              <a:t>One shared application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62663" y="9460000"/>
            <a:ext cx="2052112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 dirty="0">
                <a:solidFill>
                  <a:srgbClr val="006169"/>
                </a:solidFill>
                <a:latin typeface="Times New Roman"/>
              </a:rPr>
              <a:t>✓  </a:t>
            </a:r>
            <a:r>
              <a:rPr sz="1500" dirty="0">
                <a:solidFill>
                  <a:srgbClr val="1C2530"/>
                </a:solidFill>
                <a:latin typeface="Times New Roman"/>
              </a:rPr>
              <a:t>Live status timeline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64775" y="9460000"/>
            <a:ext cx="2052112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 dirty="0">
                <a:solidFill>
                  <a:srgbClr val="006169"/>
                </a:solidFill>
                <a:latin typeface="Times New Roman"/>
              </a:rPr>
              <a:t>✓  </a:t>
            </a:r>
            <a:r>
              <a:rPr sz="1500" dirty="0">
                <a:solidFill>
                  <a:srgbClr val="1C2530"/>
                </a:solidFill>
                <a:latin typeface="Times New Roman"/>
              </a:rPr>
              <a:t>Consent-based sharing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66887" y="9460000"/>
            <a:ext cx="2052112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 dirty="0">
                <a:solidFill>
                  <a:srgbClr val="006169"/>
                </a:solidFill>
                <a:latin typeface="Times New Roman"/>
              </a:rPr>
              <a:t>✓  </a:t>
            </a:r>
            <a:r>
              <a:rPr sz="1500" dirty="0">
                <a:solidFill>
                  <a:srgbClr val="1C2530"/>
                </a:solidFill>
                <a:latin typeface="Times New Roman"/>
              </a:rPr>
              <a:t>Automatic certificate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69000" y="9460000"/>
            <a:ext cx="2202112" cy="2438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 dirty="0">
                <a:solidFill>
                  <a:srgbClr val="1159B1"/>
                </a:solidFill>
                <a:latin typeface="Times New Roman"/>
              </a:rPr>
              <a:t>✓  </a:t>
            </a:r>
            <a:r>
              <a:rPr sz="1500" dirty="0">
                <a:solidFill>
                  <a:srgbClr val="1C2530"/>
                </a:solidFill>
                <a:latin typeface="Times New Roman"/>
              </a:rPr>
              <a:t>Unified system over</a:t>
            </a:r>
            <a:r>
              <a:rPr lang="en-US" sz="1500" dirty="0">
                <a:solidFill>
                  <a:srgbClr val="1C2530"/>
                </a:solidFill>
                <a:latin typeface="Times New Roman"/>
              </a:rPr>
              <a:t>sight</a:t>
            </a:r>
            <a:endParaRPr sz="1500" dirty="0">
              <a:solidFill>
                <a:srgbClr val="1C2530"/>
              </a:solidFill>
              <a:latin typeface="Times New Roman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1701112" y="9475270"/>
            <a:ext cx="2052112" cy="2438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 dirty="0">
                <a:solidFill>
                  <a:srgbClr val="1159B1"/>
                </a:solidFill>
                <a:latin typeface="Times New Roman"/>
              </a:rPr>
              <a:t>✓  </a:t>
            </a:r>
            <a:r>
              <a:rPr sz="1500" dirty="0">
                <a:solidFill>
                  <a:srgbClr val="1C2530"/>
                </a:solidFill>
                <a:latin typeface="Times New Roman"/>
              </a:rPr>
              <a:t>Per-protocol health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773224" y="9460000"/>
            <a:ext cx="2052112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 dirty="0">
                <a:solidFill>
                  <a:srgbClr val="1159B1"/>
                </a:solidFill>
                <a:latin typeface="Times New Roman"/>
              </a:rPr>
              <a:t>✓  </a:t>
            </a:r>
            <a:r>
              <a:rPr sz="1500" dirty="0">
                <a:solidFill>
                  <a:srgbClr val="1C2530"/>
                </a:solidFill>
                <a:latin typeface="Times New Roman"/>
              </a:rPr>
              <a:t>Live SLA metrics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975336" y="9460000"/>
            <a:ext cx="2052112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 dirty="0">
                <a:solidFill>
                  <a:srgbClr val="1159B1"/>
                </a:solidFill>
                <a:latin typeface="Times New Roman"/>
              </a:rPr>
              <a:t>✓  </a:t>
            </a:r>
            <a:r>
              <a:rPr sz="1500" dirty="0">
                <a:solidFill>
                  <a:srgbClr val="1C2530"/>
                </a:solidFill>
                <a:latin typeface="Times New Roman"/>
              </a:rPr>
              <a:t>Full audit trail</a:t>
            </a:r>
          </a:p>
        </p:txBody>
      </p:sp>
      <p:sp>
        <p:nvSpPr>
          <p:cNvPr id="24" name="object 24"/>
          <p:cNvSpPr/>
          <p:nvPr/>
        </p:nvSpPr>
        <p:spPr>
          <a:xfrm>
            <a:off x="17317563" y="9453450"/>
            <a:ext cx="771525" cy="608330"/>
          </a:xfrm>
          <a:custGeom>
            <a:avLst/>
            <a:gdLst/>
            <a:ahLst/>
            <a:cxnLst/>
            <a:rect l="l" t="t" r="r" b="b"/>
            <a:pathLst>
              <a:path w="771525" h="608329">
                <a:moveTo>
                  <a:pt x="388401" y="607792"/>
                </a:moveTo>
                <a:lnTo>
                  <a:pt x="382555" y="607792"/>
                </a:lnTo>
                <a:lnTo>
                  <a:pt x="343374" y="606144"/>
                </a:lnTo>
                <a:lnTo>
                  <a:pt x="304537" y="601223"/>
                </a:lnTo>
                <a:lnTo>
                  <a:pt x="266250" y="593063"/>
                </a:lnTo>
                <a:lnTo>
                  <a:pt x="228716" y="581700"/>
                </a:lnTo>
                <a:lnTo>
                  <a:pt x="189447" y="566174"/>
                </a:lnTo>
                <a:lnTo>
                  <a:pt x="127233" y="530105"/>
                </a:lnTo>
                <a:lnTo>
                  <a:pt x="94195" y="503692"/>
                </a:lnTo>
                <a:lnTo>
                  <a:pt x="50200" y="455353"/>
                </a:lnTo>
                <a:lnTo>
                  <a:pt x="18679" y="398092"/>
                </a:lnTo>
                <a:lnTo>
                  <a:pt x="1953" y="335179"/>
                </a:lnTo>
                <a:lnTo>
                  <a:pt x="0" y="303640"/>
                </a:lnTo>
                <a:lnTo>
                  <a:pt x="2146" y="271982"/>
                </a:lnTo>
                <a:lnTo>
                  <a:pt x="18267" y="210754"/>
                </a:lnTo>
                <a:lnTo>
                  <a:pt x="49014" y="155405"/>
                </a:lnTo>
                <a:lnTo>
                  <a:pt x="73403" y="125139"/>
                </a:lnTo>
                <a:lnTo>
                  <a:pt x="124303" y="79730"/>
                </a:lnTo>
                <a:lnTo>
                  <a:pt x="158908" y="57934"/>
                </a:lnTo>
                <a:lnTo>
                  <a:pt x="227291" y="26551"/>
                </a:lnTo>
                <a:lnTo>
                  <a:pt x="300102" y="7587"/>
                </a:lnTo>
                <a:lnTo>
                  <a:pt x="345264" y="1679"/>
                </a:lnTo>
                <a:lnTo>
                  <a:pt x="385479" y="0"/>
                </a:lnTo>
                <a:lnTo>
                  <a:pt x="425693" y="1679"/>
                </a:lnTo>
                <a:lnTo>
                  <a:pt x="465697" y="6717"/>
                </a:lnTo>
                <a:lnTo>
                  <a:pt x="507711" y="15480"/>
                </a:lnTo>
                <a:lnTo>
                  <a:pt x="578513" y="40727"/>
                </a:lnTo>
                <a:lnTo>
                  <a:pt x="617833" y="61230"/>
                </a:lnTo>
                <a:lnTo>
                  <a:pt x="673298" y="101096"/>
                </a:lnTo>
                <a:lnTo>
                  <a:pt x="719210" y="151670"/>
                </a:lnTo>
                <a:lnTo>
                  <a:pt x="752690" y="210754"/>
                </a:lnTo>
                <a:lnTo>
                  <a:pt x="768811" y="271982"/>
                </a:lnTo>
                <a:lnTo>
                  <a:pt x="770957" y="303640"/>
                </a:lnTo>
                <a:lnTo>
                  <a:pt x="769004" y="335179"/>
                </a:lnTo>
                <a:lnTo>
                  <a:pt x="752998" y="396316"/>
                </a:lnTo>
                <a:lnTo>
                  <a:pt x="720756" y="455353"/>
                </a:lnTo>
                <a:lnTo>
                  <a:pt x="676762" y="503692"/>
                </a:lnTo>
                <a:lnTo>
                  <a:pt x="643723" y="530105"/>
                </a:lnTo>
                <a:lnTo>
                  <a:pt x="581510" y="566174"/>
                </a:lnTo>
                <a:lnTo>
                  <a:pt x="542241" y="581700"/>
                </a:lnTo>
                <a:lnTo>
                  <a:pt x="504707" y="593063"/>
                </a:lnTo>
                <a:lnTo>
                  <a:pt x="466420" y="601223"/>
                </a:lnTo>
                <a:lnTo>
                  <a:pt x="427583" y="606144"/>
                </a:lnTo>
                <a:lnTo>
                  <a:pt x="388401" y="607792"/>
                </a:lnTo>
                <a:close/>
              </a:path>
            </a:pathLst>
          </a:custGeom>
          <a:solidFill>
            <a:srgbClr val="00616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23">
            <a:extLst>
              <a:ext uri="{FF2B5EF4-FFF2-40B4-BE49-F238E27FC236}">
                <a16:creationId xmlns:a16="http://schemas.microsoft.com/office/drawing/2014/main" id="{4D36C5FA-BE8C-CADE-6A34-075BD7F4A3B3}"/>
              </a:ext>
            </a:extLst>
          </p:cNvPr>
          <p:cNvSpPr txBox="1"/>
          <p:nvPr/>
        </p:nvSpPr>
        <p:spPr>
          <a:xfrm>
            <a:off x="9267254" y="9879767"/>
            <a:ext cx="8536305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100" b="1" dirty="0">
                <a:latin typeface="Calibri"/>
                <a:cs typeface="Calibri"/>
              </a:rPr>
              <a:t>Documents : </a:t>
            </a:r>
            <a:r>
              <a:rPr lang="en-IN" sz="2100" dirty="0" err="1">
                <a:latin typeface="Calibri"/>
                <a:cs typeface="Calibri"/>
              </a:rPr>
              <a:t>OneDesk</a:t>
            </a:r>
            <a:r>
              <a:rPr lang="en-IN" sz="2100" dirty="0">
                <a:latin typeface="Calibri"/>
                <a:cs typeface="Calibri"/>
              </a:rPr>
              <a:t> Research and References 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885</TotalTime>
  <Words>1112</Words>
  <Application>Microsoft Macintosh PowerPoint</Application>
  <PresentationFormat>Custom</PresentationFormat>
  <Paragraphs>181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SMART INDIA HACKATHON 2026</vt:lpstr>
      <vt:lpstr>PowerPoint Presentation</vt:lpstr>
      <vt:lpstr>TECHNICAL APPROACH</vt:lpstr>
      <vt:lpstr>FEASIBILITY AND VIABILITY ANALYSIS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SIH2026-IDEA-Presentation-Format.pptx</dc:title>
  <dc:creator>KiruthicK</dc:creator>
  <cp:keywords>DAHTl-9xCaQ,BAFwprO2tX4</cp:keywords>
  <cp:lastModifiedBy>Grootan</cp:lastModifiedBy>
  <cp:revision>47</cp:revision>
  <dcterms:created xsi:type="dcterms:W3CDTF">2026-09-12T15:43:52Z</dcterms:created>
  <dcterms:modified xsi:type="dcterms:W3CDTF">2026-09-28T03:29:38Z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2026-08-28T00:00:00Z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2026-09-12T00:00:00Z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